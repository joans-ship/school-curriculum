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edcf6cbfc6_3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g3edcf6cbfc6_3_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g3edcf6cbfc6_3_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dcf6cbfc6_3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edcf6cbfc6_3_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edcf6cbfc6_3_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dcf6cbfc6_3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edcf6cbfc6_3_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edcf6cbfc6_3_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dcf6cbfc6_3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edcf6cbfc6_3_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edcf6cbfc6_3_1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dcf6cbfc6_3_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edcf6cbfc6_3_1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edcf6cbfc6_3_1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dcf6cbfc6_3_1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edcf6cbfc6_3_1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edcf6cbfc6_3_1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dcf6cbfc6_3_2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edcf6cbfc6_3_2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edcf6cbfc6_3_2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dcf6cbfc6_3_2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edcf6cbfc6_3_2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edcf6cbfc6_3_2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dcf6cbfc6_3_2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edcf6cbfc6_3_2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edcf6cbfc6_3_2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2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4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3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3.png"/><Relationship Id="rId4" Type="http://schemas.openxmlformats.org/officeDocument/2006/relationships/image" Target="../media/image11.png"/><Relationship Id="rId5" Type="http://schemas.openxmlformats.org/officeDocument/2006/relationships/image" Target="../media/image60.png"/><Relationship Id="rId6" Type="http://schemas.openxmlformats.org/officeDocument/2006/relationships/image" Target="../media/image71.png"/><Relationship Id="rId7" Type="http://schemas.openxmlformats.org/officeDocument/2006/relationships/image" Target="../media/image50.png"/><Relationship Id="rId8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2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4.png"/><Relationship Id="rId8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2E8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305638" y="3107618"/>
            <a:ext cx="1280100" cy="384000"/>
          </a:xfrm>
          <a:prstGeom prst="roundRect">
            <a:avLst>
              <a:gd fmla="val 23810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AF7F2"/>
                </a:solidFill>
              </a:rPr>
              <a:t>DAY 5</a:t>
            </a:r>
            <a:endParaRPr b="1">
              <a:solidFill>
                <a:srgbClr val="FAF7F2"/>
              </a:solidFill>
            </a:endParaRPr>
          </a:p>
        </p:txBody>
      </p:sp>
      <p:pic>
        <p:nvPicPr>
          <p:cNvPr descr="preencoded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8425" y="1096400"/>
            <a:ext cx="2973900" cy="353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210408" y="1250549"/>
            <a:ext cx="5303400" cy="1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Show What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You Know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10397" y="3692737"/>
            <a:ext cx="5120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Build it.  Code it.  Present it.</a:t>
            </a:r>
            <a:endParaRPr b="0" i="0" sz="1600" u="none" cap="none" strike="noStrike">
              <a:solidFill>
                <a:srgbClr val="FAF7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This is your moment.</a:t>
            </a:r>
            <a:endParaRPr b="0" i="0" sz="1600" u="none" cap="none" strike="noStrike">
              <a:solidFill>
                <a:srgbClr val="FAF7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0" y="0"/>
            <a:ext cx="908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REAM BEYOND LIMITS                                                                                                                                                                                                                                                     THE CODING  CLUBHOUSE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365760" y="256032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Our Coding Journey This Week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" name="Google Shape;28;p4"/>
          <p:cNvGrpSpPr/>
          <p:nvPr/>
        </p:nvGrpSpPr>
        <p:grpSpPr>
          <a:xfrm>
            <a:off x="726424" y="1097280"/>
            <a:ext cx="1536192" cy="2697600"/>
            <a:chOff x="726424" y="1097280"/>
            <a:chExt cx="1536192" cy="2697600"/>
          </a:xfrm>
        </p:grpSpPr>
        <p:sp>
          <p:nvSpPr>
            <p:cNvPr id="29" name="Google Shape;29;p4"/>
            <p:cNvSpPr/>
            <p:nvPr/>
          </p:nvSpPr>
          <p:spPr>
            <a:xfrm>
              <a:off x="726424" y="1097280"/>
              <a:ext cx="1389900" cy="2697600"/>
            </a:xfrm>
            <a:prstGeom prst="roundRect">
              <a:avLst>
                <a:gd fmla="val 7895" name="adj"/>
              </a:avLst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38100">
                <a:srgbClr val="000000">
                  <a:alpha val="1411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726424" y="1207008"/>
              <a:ext cx="13899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Day 1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eencoded.png" id="31" name="Google Shape;31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83624" y="1572768"/>
              <a:ext cx="475488" cy="4754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" name="Google Shape;32;p4"/>
            <p:cNvSpPr/>
            <p:nvPr/>
          </p:nvSpPr>
          <p:spPr>
            <a:xfrm>
              <a:off x="772144" y="2139696"/>
              <a:ext cx="1298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Cambria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Sequences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772144" y="2834640"/>
              <a:ext cx="12984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900"/>
                <a:buFont typeface="Calibri"/>
                <a:buNone/>
              </a:pPr>
              <a:r>
                <a:rPr b="0" i="1" lang="en-US" sz="9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Step by step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eencoded.png" id="34" name="Google Shape;34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134600" y="2318004"/>
              <a:ext cx="128016" cy="1280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" name="Google Shape;35;p4"/>
          <p:cNvGrpSpPr/>
          <p:nvPr/>
        </p:nvGrpSpPr>
        <p:grpSpPr>
          <a:xfrm>
            <a:off x="2280904" y="1097280"/>
            <a:ext cx="1536192" cy="2697600"/>
            <a:chOff x="2280904" y="1097280"/>
            <a:chExt cx="1536192" cy="2697600"/>
          </a:xfrm>
        </p:grpSpPr>
        <p:grpSp>
          <p:nvGrpSpPr>
            <p:cNvPr id="36" name="Google Shape;36;p4"/>
            <p:cNvGrpSpPr/>
            <p:nvPr/>
          </p:nvGrpSpPr>
          <p:grpSpPr>
            <a:xfrm>
              <a:off x="2280904" y="1097280"/>
              <a:ext cx="1389900" cy="2697600"/>
              <a:chOff x="2280904" y="1097280"/>
              <a:chExt cx="1389900" cy="2697600"/>
            </a:xfrm>
          </p:grpSpPr>
          <p:sp>
            <p:nvSpPr>
              <p:cNvPr id="37" name="Google Shape;37;p4"/>
              <p:cNvSpPr/>
              <p:nvPr/>
            </p:nvSpPr>
            <p:spPr>
              <a:xfrm>
                <a:off x="2280904" y="1097280"/>
                <a:ext cx="1389900" cy="2697600"/>
              </a:xfrm>
              <a:prstGeom prst="roundRect">
                <a:avLst>
                  <a:gd fmla="val 7895" name="adj"/>
                </a:avLst>
              </a:prstGeom>
              <a:solidFill>
                <a:srgbClr val="312E81"/>
              </a:solidFill>
              <a:ln cap="flat" cmpd="sng" w="12700">
                <a:solidFill>
                  <a:srgbClr val="312E8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101600" rotWithShape="0" algn="bl" dir="2700000" dist="38100">
                  <a:srgbClr val="000000">
                    <a:alpha val="1411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4"/>
              <p:cNvSpPr/>
              <p:nvPr/>
            </p:nvSpPr>
            <p:spPr>
              <a:xfrm>
                <a:off x="2280904" y="1207008"/>
                <a:ext cx="1389900" cy="27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Calibri"/>
                  <a:buNone/>
                </a:pPr>
                <a:r>
                  <a:rPr b="1" i="0" lang="en-US" sz="1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Day 2</a:t>
                </a:r>
                <a:endParaRPr b="0" i="0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preencoded.png" id="39" name="Google Shape;39;p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738104" y="1572768"/>
                <a:ext cx="475488" cy="47548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Google Shape;40;p4"/>
              <p:cNvSpPr/>
              <p:nvPr/>
            </p:nvSpPr>
            <p:spPr>
              <a:xfrm>
                <a:off x="2326624" y="2139696"/>
                <a:ext cx="1298400" cy="65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300"/>
                  <a:buFont typeface="Cambria"/>
                  <a:buNone/>
                </a:pPr>
                <a:r>
                  <a:rPr b="1" i="0" lang="en-US" sz="1300" u="none" cap="none" strike="noStrike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Loops</a:t>
                </a:r>
                <a:endParaRPr b="0" i="0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4"/>
              <p:cNvSpPr/>
              <p:nvPr/>
            </p:nvSpPr>
            <p:spPr>
              <a:xfrm>
                <a:off x="2326624" y="2834640"/>
                <a:ext cx="1298400" cy="38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AF7F2"/>
                  </a:buClr>
                  <a:buSzPts val="900"/>
                  <a:buFont typeface="Calibri"/>
                  <a:buNone/>
                </a:pPr>
                <a:r>
                  <a:rPr b="0" i="1" lang="en-US" sz="900" u="none" cap="none" strike="noStrike">
                    <a:solidFill>
                      <a:srgbClr val="FAF7F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Repeat actions</a:t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preencoded.png" id="42" name="Google Shape;42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89080" y="2318004"/>
              <a:ext cx="128016" cy="1280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" name="Google Shape;43;p4"/>
          <p:cNvGrpSpPr/>
          <p:nvPr/>
        </p:nvGrpSpPr>
        <p:grpSpPr>
          <a:xfrm>
            <a:off x="3835384" y="1097280"/>
            <a:ext cx="1536192" cy="2697600"/>
            <a:chOff x="3835384" y="1097280"/>
            <a:chExt cx="1536192" cy="2697600"/>
          </a:xfrm>
        </p:grpSpPr>
        <p:sp>
          <p:nvSpPr>
            <p:cNvPr id="44" name="Google Shape;44;p4"/>
            <p:cNvSpPr/>
            <p:nvPr/>
          </p:nvSpPr>
          <p:spPr>
            <a:xfrm>
              <a:off x="3835384" y="1097280"/>
              <a:ext cx="1389900" cy="2697600"/>
            </a:xfrm>
            <a:prstGeom prst="roundRect">
              <a:avLst>
                <a:gd fmla="val 7895" name="adj"/>
              </a:avLst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38100">
                <a:srgbClr val="000000">
                  <a:alpha val="1411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3835384" y="1207008"/>
              <a:ext cx="13899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Day 3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eencoded.png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292584" y="1572768"/>
              <a:ext cx="475488" cy="4754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" name="Google Shape;47;p4"/>
            <p:cNvSpPr/>
            <p:nvPr/>
          </p:nvSpPr>
          <p:spPr>
            <a:xfrm>
              <a:off x="3881104" y="2139696"/>
              <a:ext cx="1298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Cambria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Conditionals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Cambria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&amp; Events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3881104" y="2834640"/>
              <a:ext cx="12984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900"/>
                <a:buFont typeface="Calibri"/>
                <a:buNone/>
              </a:pPr>
              <a:r>
                <a:rPr b="0" i="1" lang="en-US" sz="9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If, then decide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eencoded.png" id="49" name="Google Shape;49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3560" y="2318004"/>
              <a:ext cx="128016" cy="1280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" name="Google Shape;50;p4"/>
          <p:cNvGrpSpPr/>
          <p:nvPr/>
        </p:nvGrpSpPr>
        <p:grpSpPr>
          <a:xfrm>
            <a:off x="5389864" y="1097280"/>
            <a:ext cx="1536192" cy="2697600"/>
            <a:chOff x="5389864" y="1097280"/>
            <a:chExt cx="1536192" cy="2697600"/>
          </a:xfrm>
        </p:grpSpPr>
        <p:sp>
          <p:nvSpPr>
            <p:cNvPr id="51" name="Google Shape;51;p4"/>
            <p:cNvSpPr/>
            <p:nvPr/>
          </p:nvSpPr>
          <p:spPr>
            <a:xfrm>
              <a:off x="5389864" y="1097280"/>
              <a:ext cx="1389900" cy="2697600"/>
            </a:xfrm>
            <a:prstGeom prst="roundRect">
              <a:avLst>
                <a:gd fmla="val 7895" name="adj"/>
              </a:avLst>
            </a:prstGeom>
            <a:solidFill>
              <a:srgbClr val="312E81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38100">
                <a:srgbClr val="000000">
                  <a:alpha val="1411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5389864" y="1207008"/>
              <a:ext cx="13899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Day 4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eencoded.png" id="53" name="Google Shape;53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847064" y="1572768"/>
              <a:ext cx="475488" cy="4754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4"/>
            <p:cNvSpPr/>
            <p:nvPr/>
          </p:nvSpPr>
          <p:spPr>
            <a:xfrm>
              <a:off x="5435584" y="2139696"/>
              <a:ext cx="1298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Cambria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Animation &amp;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Cambria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Collaboration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5435584" y="2834640"/>
              <a:ext cx="12984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900"/>
                <a:buFont typeface="Calibri"/>
                <a:buNone/>
              </a:pPr>
              <a:r>
                <a:rPr b="0" i="1" lang="en-US" sz="9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Team storytelling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eencoded.png" id="56" name="Google Shape;56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98040" y="2318004"/>
              <a:ext cx="128016" cy="1280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" name="Google Shape;57;p4"/>
          <p:cNvGrpSpPr/>
          <p:nvPr/>
        </p:nvGrpSpPr>
        <p:grpSpPr>
          <a:xfrm>
            <a:off x="6944344" y="1097280"/>
            <a:ext cx="1389900" cy="2697600"/>
            <a:chOff x="6944344" y="1097280"/>
            <a:chExt cx="1389900" cy="2697600"/>
          </a:xfrm>
        </p:grpSpPr>
        <p:sp>
          <p:nvSpPr>
            <p:cNvPr id="58" name="Google Shape;58;p4"/>
            <p:cNvSpPr/>
            <p:nvPr/>
          </p:nvSpPr>
          <p:spPr>
            <a:xfrm>
              <a:off x="6944344" y="1097280"/>
              <a:ext cx="1389900" cy="2697600"/>
            </a:xfrm>
            <a:prstGeom prst="roundRect">
              <a:avLst>
                <a:gd fmla="val 7895" name="adj"/>
              </a:avLst>
            </a:prstGeom>
            <a:solidFill>
              <a:srgbClr val="312E81"/>
            </a:solidFill>
            <a:ln cap="flat" cmpd="sng" w="25400">
              <a:solidFill>
                <a:srgbClr val="6D28D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38100">
                <a:srgbClr val="000000">
                  <a:alpha val="1411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6944344" y="1207008"/>
              <a:ext cx="13899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Day 5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eencoded.png" id="60" name="Google Shape;60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401544" y="1572768"/>
              <a:ext cx="475488" cy="4754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4"/>
            <p:cNvSpPr/>
            <p:nvPr/>
          </p:nvSpPr>
          <p:spPr>
            <a:xfrm>
              <a:off x="6990064" y="2139696"/>
              <a:ext cx="1298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Cambria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Final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Cambria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Showcase!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6990064" y="2834640"/>
              <a:ext cx="12984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900"/>
                <a:buFont typeface="Calibri"/>
                <a:buNone/>
              </a:pPr>
              <a:r>
                <a:rPr b="0" i="1" lang="en-US" sz="9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Build &amp; present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4"/>
          <p:cNvSpPr/>
          <p:nvPr/>
        </p:nvSpPr>
        <p:spPr>
          <a:xfrm>
            <a:off x="365760" y="4005072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Every skill from this week powers your final project today!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65760" y="4773168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Dream Beyond Limits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365760" y="256032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Final Project Checklist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65760" y="1024128"/>
            <a:ext cx="8412480" cy="658368"/>
          </a:xfrm>
          <a:prstGeom prst="roundRect">
            <a:avLst>
              <a:gd fmla="val 11111" name="adj"/>
            </a:avLst>
          </a:prstGeom>
          <a:solidFill>
            <a:srgbClr val="EDE9FE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1152144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416" y="117043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1463040" y="10972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3 storyboard panels labelled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463040" y="1371600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Beginning · Middle · 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7635240" y="1170432"/>
            <a:ext cx="877824" cy="310896"/>
          </a:xfrm>
          <a:prstGeom prst="roundRect">
            <a:avLst>
              <a:gd fmla="val 23529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7635240" y="1170432"/>
            <a:ext cx="8778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✓ Done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65760" y="1792224"/>
            <a:ext cx="8412480" cy="658368"/>
          </a:xfrm>
          <a:prstGeom prst="roundRect">
            <a:avLst>
              <a:gd fmla="val 11111" name="adj"/>
            </a:avLst>
          </a:prstGeom>
          <a:solidFill>
            <a:srgbClr val="FAF7F2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1920240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" name="Google Shape;8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2416" y="193852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1463040" y="1865376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Character cutout ready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1463040" y="2139696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Hold it up during your story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7635240" y="1938528"/>
            <a:ext cx="877824" cy="310896"/>
          </a:xfrm>
          <a:prstGeom prst="roundRect">
            <a:avLst>
              <a:gd fmla="val 23529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7635240" y="1938528"/>
            <a:ext cx="8778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✓ Done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fmla="val 11111" name="adj"/>
            </a:avLst>
          </a:prstGeom>
          <a:solidFill>
            <a:srgbClr val="EDE9FE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2688336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8" name="Google Shape;8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2416" y="270662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5"/>
          <p:cNvSpPr/>
          <p:nvPr/>
        </p:nvSpPr>
        <p:spPr>
          <a:xfrm>
            <a:off x="1463040" y="2633472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LEGO scenes built (one per panel)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463040" y="2907792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Label each with the code concept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7635240" y="2706624"/>
            <a:ext cx="877824" cy="310896"/>
          </a:xfrm>
          <a:prstGeom prst="roundRect">
            <a:avLst>
              <a:gd fmla="val 23529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7635240" y="2706624"/>
            <a:ext cx="8778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✓ Done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65760" y="3328416"/>
            <a:ext cx="8412480" cy="658368"/>
          </a:xfrm>
          <a:prstGeom prst="roundRect">
            <a:avLst>
              <a:gd fmla="val 11111" name="adj"/>
            </a:avLst>
          </a:prstGeom>
          <a:solidFill>
            <a:srgbClr val="FAF7F2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3456432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5" name="Google Shape;95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2416" y="34747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/>
          <p:nvPr/>
        </p:nvSpPr>
        <p:spPr>
          <a:xfrm>
            <a:off x="1463040" y="34015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Blockly animation working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463040" y="3675888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At least one event triggers an 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7635240" y="3474720"/>
            <a:ext cx="877824" cy="310896"/>
          </a:xfrm>
          <a:prstGeom prst="roundRect">
            <a:avLst>
              <a:gd fmla="val 23529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7635240" y="3474720"/>
            <a:ext cx="8778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✓ Done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365760" y="4096512"/>
            <a:ext cx="8412480" cy="658368"/>
          </a:xfrm>
          <a:prstGeom prst="roundRect">
            <a:avLst>
              <a:gd fmla="val 11111" name="adj"/>
            </a:avLst>
          </a:prstGeom>
          <a:solidFill>
            <a:srgbClr val="EDE9FE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4224528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" name="Google Shape;102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2416" y="424281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/>
          <p:nvPr/>
        </p:nvSpPr>
        <p:spPr>
          <a:xfrm>
            <a:off x="1463040" y="4169664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Story told in three sentences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463040" y="4443984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Beginning… Middle… End…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7635240" y="4242816"/>
            <a:ext cx="877824" cy="310896"/>
          </a:xfrm>
          <a:prstGeom prst="roundRect">
            <a:avLst>
              <a:gd fmla="val 23529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7635240" y="4242816"/>
            <a:ext cx="8778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✓ Done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365760" y="4773168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Dream Beyond Limits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/>
          <p:nvPr/>
        </p:nvSpPr>
        <p:spPr>
          <a:xfrm>
            <a:off x="365760" y="256032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Build + Code Your Project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365760" y="1024128"/>
            <a:ext cx="3977640" cy="3520440"/>
          </a:xfrm>
          <a:prstGeom prst="roundRect">
            <a:avLst>
              <a:gd fmla="val 3636" name="adj"/>
            </a:avLst>
          </a:prstGeom>
          <a:solidFill>
            <a:srgbClr val="EDE9FE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9699" y="120700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6"/>
          <p:cNvSpPr/>
          <p:nvPr/>
        </p:nvSpPr>
        <p:spPr>
          <a:xfrm>
            <a:off x="502920" y="1719072"/>
            <a:ext cx="3703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312E81"/>
                </a:solidFill>
                <a:latin typeface="Cambria"/>
                <a:ea typeface="Cambria"/>
                <a:cs typeface="Cambria"/>
                <a:sym typeface="Cambria"/>
              </a:rPr>
              <a:t>🧱  LEGO Build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48640" y="2212848"/>
            <a:ext cx="3611880" cy="384048"/>
          </a:xfrm>
          <a:prstGeom prst="roundRect">
            <a:avLst>
              <a:gd fmla="val 14286" name="adj"/>
            </a:avLst>
          </a:prstGeom>
          <a:solidFill>
            <a:srgbClr val="DDD6FE">
              <a:alpha val="60000"/>
            </a:srgbClr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640080" y="2231136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1.  3 scenes — one per story panel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548640" y="2724912"/>
            <a:ext cx="3611880" cy="384048"/>
          </a:xfrm>
          <a:prstGeom prst="roundRect">
            <a:avLst>
              <a:gd fmla="val 14286" name="adj"/>
            </a:avLst>
          </a:prstGeom>
          <a:solidFill>
            <a:srgbClr val="DDD6FE">
              <a:alpha val="60000"/>
            </a:srgbClr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640080" y="274320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2.  Arrange from your storyboard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48640" y="3236976"/>
            <a:ext cx="3611880" cy="384048"/>
          </a:xfrm>
          <a:prstGeom prst="roundRect">
            <a:avLst>
              <a:gd fmla="val 14286" name="adj"/>
            </a:avLst>
          </a:prstGeom>
          <a:solidFill>
            <a:srgbClr val="DDD6FE">
              <a:alpha val="60000"/>
            </a:srgbClr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640080" y="3255264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3.  Label each: concept used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48640" y="3749040"/>
            <a:ext cx="3611880" cy="384048"/>
          </a:xfrm>
          <a:prstGeom prst="roundRect">
            <a:avLst>
              <a:gd fmla="val 14286" name="adj"/>
            </a:avLst>
          </a:prstGeom>
          <a:solidFill>
            <a:srgbClr val="DDD6FE">
              <a:alpha val="60000"/>
            </a:srgbClr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640080" y="3767328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4.  Cardboard panel + LEGO side by side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800600" y="1024128"/>
            <a:ext cx="3977640" cy="3520440"/>
          </a:xfrm>
          <a:prstGeom prst="roundRect">
            <a:avLst>
              <a:gd fmla="val 3636" name="adj"/>
            </a:avLst>
          </a:prstGeom>
          <a:solidFill>
            <a:srgbClr val="312E81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6344" y="120700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/>
          <p:nvPr/>
        </p:nvSpPr>
        <p:spPr>
          <a:xfrm>
            <a:off x="4937760" y="1719072"/>
            <a:ext cx="3703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💻  Blockly Code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983480" y="2212848"/>
            <a:ext cx="3611880" cy="384048"/>
          </a:xfrm>
          <a:prstGeom prst="roundRect">
            <a:avLst>
              <a:gd fmla="val 14286" name="adj"/>
            </a:avLst>
          </a:prstGeom>
          <a:solidFill>
            <a:srgbClr val="3730A3">
              <a:alpha val="80000"/>
            </a:srgbClr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5074920" y="2231136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1.  All blocks from the week available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983480" y="2724912"/>
            <a:ext cx="3611880" cy="384048"/>
          </a:xfrm>
          <a:prstGeom prst="roundRect">
            <a:avLst>
              <a:gd fmla="val 14286" name="adj"/>
            </a:avLst>
          </a:prstGeom>
          <a:solidFill>
            <a:srgbClr val="3730A3">
              <a:alpha val="80000"/>
            </a:srgbClr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5074920" y="274320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2.  Use loops, IFs, and events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983480" y="3236976"/>
            <a:ext cx="3611880" cy="384048"/>
          </a:xfrm>
          <a:prstGeom prst="roundRect">
            <a:avLst>
              <a:gd fmla="val 14286" name="adj"/>
            </a:avLst>
          </a:prstGeom>
          <a:solidFill>
            <a:srgbClr val="3730A3">
              <a:alpha val="80000"/>
            </a:srgbClr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5074920" y="3255264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3.  One working event is enough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983480" y="3749040"/>
            <a:ext cx="3611880" cy="384048"/>
          </a:xfrm>
          <a:prstGeom prst="roundRect">
            <a:avLst>
              <a:gd fmla="val 14286" name="adj"/>
            </a:avLst>
          </a:prstGeom>
          <a:solidFill>
            <a:srgbClr val="3730A3">
              <a:alpha val="80000"/>
            </a:srgbClr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5074920" y="3767328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4.  Must run live at showcase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365760" y="4590288"/>
            <a:ext cx="8412480" cy="347472"/>
          </a:xfrm>
          <a:prstGeom prst="roundRect">
            <a:avLst>
              <a:gd fmla="val 21053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457200" y="459028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💡  Stuck? Code one button. Make something happen when Left is pressed. That is enough to start.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365760" y="4882896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Dream Beyond Limits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/>
          <p:nvPr/>
        </p:nvSpPr>
        <p:spPr>
          <a:xfrm>
            <a:off x="365760" y="256032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Presentation Guide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365760" y="1024128"/>
            <a:ext cx="8412480" cy="621792"/>
          </a:xfrm>
          <a:prstGeom prst="roundRect">
            <a:avLst>
              <a:gd fmla="val 11765" name="adj"/>
            </a:avLst>
          </a:prstGeom>
          <a:solidFill>
            <a:srgbClr val="EDE9FE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493776" y="1115568"/>
            <a:ext cx="402336" cy="402336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93776" y="11155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Narrator introduces the story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005840" y="1353312"/>
            <a:ext cx="7223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"Our story is about…"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65760" y="1783080"/>
            <a:ext cx="8412480" cy="621792"/>
          </a:xfrm>
          <a:prstGeom prst="roundRect">
            <a:avLst>
              <a:gd fmla="val 11765" name="adj"/>
            </a:avLst>
          </a:prstGeom>
          <a:solidFill>
            <a:srgbClr val="FAF7F2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493776" y="1874520"/>
            <a:ext cx="402336" cy="402336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493776" y="187452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005840" y="185623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Props Manager shows Panel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005840" y="2112264"/>
            <a:ext cx="7223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Hold up Beginning panel + character cutout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365760" y="2542032"/>
            <a:ext cx="8412480" cy="621792"/>
          </a:xfrm>
          <a:prstGeom prst="roundRect">
            <a:avLst>
              <a:gd fmla="val 11765" name="adj"/>
            </a:avLst>
          </a:prstGeom>
          <a:solidFill>
            <a:srgbClr val="EDE9FE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493776" y="2633472"/>
            <a:ext cx="402336" cy="402336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493776" y="263347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1005840" y="2615184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Walk through Panel 2 + Panel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1005840" y="2871216"/>
            <a:ext cx="7223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Middle… then the 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365760" y="3300984"/>
            <a:ext cx="8412480" cy="621792"/>
          </a:xfrm>
          <a:prstGeom prst="roundRect">
            <a:avLst>
              <a:gd fmla="val 11765" name="adj"/>
            </a:avLst>
          </a:prstGeom>
          <a:solidFill>
            <a:srgbClr val="FAF7F2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493776" y="3392424"/>
            <a:ext cx="402336" cy="402336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493776" y="339242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005840" y="3374136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Coder runs the animation live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005840" y="3630168"/>
            <a:ext cx="7223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"When I press Left, the character…"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365760" y="4059936"/>
            <a:ext cx="8412480" cy="621792"/>
          </a:xfrm>
          <a:prstGeom prst="roundRect">
            <a:avLst>
              <a:gd fmla="val 11765" name="adj"/>
            </a:avLst>
          </a:prstGeom>
          <a:solidFill>
            <a:srgbClr val="EDE9FE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493776" y="4151376"/>
            <a:ext cx="402336" cy="402336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493776" y="415137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1005840" y="413308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Explain one concept you used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005840" y="4389120"/>
            <a:ext cx="7223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"We used a loop here… our IF rule says…"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365760" y="4773168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Dream Beyond Limits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2E8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3730A3">
              <a:alpha val="40000"/>
            </a:srgbClr>
          </a:solidFill>
          <a:ln cap="flat" cmpd="sng" w="12700">
            <a:solidFill>
              <a:srgbClr val="3730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730A3">
              <a:alpha val="34901"/>
            </a:srgbClr>
          </a:solidFill>
          <a:ln cap="flat" cmpd="sng" w="12700">
            <a:solidFill>
              <a:srgbClr val="3730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411480" y="256032"/>
            <a:ext cx="8321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2 Stars &amp; A Wish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11480" y="896112"/>
            <a:ext cx="8321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Give feedback to every group you watch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11480" y="1371600"/>
            <a:ext cx="2606040" cy="2606040"/>
          </a:xfrm>
          <a:prstGeom prst="roundRect">
            <a:avLst>
              <a:gd fmla="val 4912" name="adj"/>
            </a:avLst>
          </a:prstGeom>
          <a:solidFill>
            <a:srgbClr val="6D28D9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" name="Google Shape;1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756" y="155448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/>
          <p:nvPr/>
        </p:nvSpPr>
        <p:spPr>
          <a:xfrm>
            <a:off x="502920" y="2084832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⭐ Star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539496" y="2487168"/>
            <a:ext cx="2350008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9D5FF"/>
                </a:solidFill>
                <a:latin typeface="Calibri"/>
                <a:ea typeface="Calibri"/>
                <a:cs typeface="Calibri"/>
                <a:sym typeface="Calibri"/>
              </a:rPr>
              <a:t>"I loved the way you…"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3246120" y="1371600"/>
            <a:ext cx="2606040" cy="2606040"/>
          </a:xfrm>
          <a:prstGeom prst="roundRect">
            <a:avLst>
              <a:gd fmla="val 4912" name="adj"/>
            </a:avLst>
          </a:prstGeom>
          <a:solidFill>
            <a:srgbClr val="6D28D9">
              <a:alpha val="80000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" name="Google Shape;18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1396" y="155448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"/>
          <p:cNvSpPr/>
          <p:nvPr/>
        </p:nvSpPr>
        <p:spPr>
          <a:xfrm>
            <a:off x="3337560" y="2084832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⭐ Star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3374136" y="2487168"/>
            <a:ext cx="2350008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9D5FF"/>
                </a:solidFill>
                <a:latin typeface="Calibri"/>
                <a:ea typeface="Calibri"/>
                <a:cs typeface="Calibri"/>
                <a:sym typeface="Calibri"/>
              </a:rPr>
              <a:t>"Your story was creative because…"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6080760" y="1371600"/>
            <a:ext cx="2606040" cy="2606040"/>
          </a:xfrm>
          <a:prstGeom prst="roundRect">
            <a:avLst>
              <a:gd fmla="val 4912" name="adj"/>
            </a:avLst>
          </a:prstGeom>
          <a:solidFill>
            <a:srgbClr val="3730A3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6036" y="155448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8"/>
          <p:cNvSpPr/>
          <p:nvPr/>
        </p:nvSpPr>
        <p:spPr>
          <a:xfrm>
            <a:off x="6172200" y="2084832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🌠 A Wish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6208776" y="2487168"/>
            <a:ext cx="2350008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9D5FF"/>
                </a:solidFill>
                <a:latin typeface="Calibri"/>
                <a:ea typeface="Calibri"/>
                <a:cs typeface="Calibri"/>
                <a:sym typeface="Calibri"/>
              </a:rPr>
              <a:t>"I wish you had added…"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11480" y="4114800"/>
            <a:ext cx="8321040" cy="530352"/>
          </a:xfrm>
          <a:prstGeom prst="roundRect">
            <a:avLst>
              <a:gd fmla="val 13793" name="adj"/>
            </a:avLst>
          </a:prstGeom>
          <a:solidFill>
            <a:srgbClr val="6D28D9">
              <a:alpha val="70196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502920" y="4114800"/>
            <a:ext cx="8138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💡  Specific is better than general — say exactly what you noticed!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Dream Beyond Limits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/>
          <p:nvPr/>
        </p:nvSpPr>
        <p:spPr>
          <a:xfrm>
            <a:off x="365760" y="256032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Reflection Time  ✏️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Write your answers — then draw your favourite moment or character!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365760" y="1353312"/>
            <a:ext cx="4114800" cy="960120"/>
          </a:xfrm>
          <a:prstGeom prst="roundRect">
            <a:avLst>
              <a:gd fmla="val 9524" name="adj"/>
            </a:avLst>
          </a:prstGeom>
          <a:solidFill>
            <a:srgbClr val="EDE9FE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493776" y="1609344"/>
            <a:ext cx="347472" cy="347472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493776" y="160934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969264" y="1499616"/>
            <a:ext cx="336499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My favourite thing I built this week was…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365760" y="2468880"/>
            <a:ext cx="4114800" cy="960120"/>
          </a:xfrm>
          <a:prstGeom prst="roundRect">
            <a:avLst>
              <a:gd fmla="val 9524" name="adj"/>
            </a:avLst>
          </a:prstGeom>
          <a:solidFill>
            <a:srgbClr val="F5F3FF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493776" y="2724912"/>
            <a:ext cx="347472" cy="347472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493776" y="272491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969264" y="2615184"/>
            <a:ext cx="336499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One thing I learned that surprised me was…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365760" y="3584448"/>
            <a:ext cx="4114800" cy="960120"/>
          </a:xfrm>
          <a:prstGeom prst="roundRect">
            <a:avLst>
              <a:gd fmla="val 9524" name="adj"/>
            </a:avLst>
          </a:prstGeom>
          <a:solidFill>
            <a:srgbClr val="EDE9FE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493776" y="3840480"/>
            <a:ext cx="347472" cy="347472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493776" y="38404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969264" y="3730752"/>
            <a:ext cx="336499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I feel proud because…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663440" y="1353312"/>
            <a:ext cx="4114800" cy="960120"/>
          </a:xfrm>
          <a:prstGeom prst="roundRect">
            <a:avLst>
              <a:gd fmla="val 9524" name="adj"/>
            </a:avLst>
          </a:prstGeom>
          <a:solidFill>
            <a:srgbClr val="F5F3FF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4791456" y="1609344"/>
            <a:ext cx="347472" cy="347472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4791456" y="160934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5266944" y="1499616"/>
            <a:ext cx="336499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The hardest moment was… and I got through it by…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663440" y="2468880"/>
            <a:ext cx="4114800" cy="960120"/>
          </a:xfrm>
          <a:prstGeom prst="roundRect">
            <a:avLst>
              <a:gd fmla="val 9524" name="adj"/>
            </a:avLst>
          </a:prstGeom>
          <a:solidFill>
            <a:srgbClr val="EDE9FE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4791456" y="2724912"/>
            <a:ext cx="347472" cy="347472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4791456" y="272491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5266944" y="2615184"/>
            <a:ext cx="336499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If I could add one more thing, it would be…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663440" y="2468880"/>
            <a:ext cx="4114800" cy="1920240"/>
          </a:xfrm>
          <a:prstGeom prst="roundRect">
            <a:avLst>
              <a:gd fmla="val 5714" name="adj"/>
            </a:avLst>
          </a:prstGeom>
          <a:solidFill>
            <a:srgbClr val="312E81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4663440" y="257860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🎨  Draw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800600" y="2926080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Your favourite moment</a:t>
            </a:r>
            <a:endParaRPr b="0" i="0" sz="1200" u="none" cap="none" strike="noStrike">
              <a:solidFill>
                <a:srgbClr val="FAF7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or character from the week</a:t>
            </a:r>
            <a:endParaRPr b="0" i="0" sz="1200" u="none" cap="none" strike="noStrike">
              <a:solidFill>
                <a:srgbClr val="FAF7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365760" y="4773168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Dream Beyond Limits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2E8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/>
          <p:nvPr/>
        </p:nvSpPr>
        <p:spPr>
          <a:xfrm>
            <a:off x="6400800" y="-1371600"/>
            <a:ext cx="5486400" cy="5486400"/>
          </a:xfrm>
          <a:prstGeom prst="ellipse">
            <a:avLst/>
          </a:prstGeom>
          <a:solidFill>
            <a:srgbClr val="3730A3">
              <a:alpha val="34901"/>
            </a:srgbClr>
          </a:solidFill>
          <a:ln cap="flat" cmpd="sng" w="12700">
            <a:solidFill>
              <a:srgbClr val="3730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3730A3">
              <a:alpha val="34901"/>
            </a:srgbClr>
          </a:solidFill>
          <a:ln cap="flat" cmpd="sng" w="12700">
            <a:solidFill>
              <a:srgbClr val="3730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6" name="Google Shape;236;p10"/>
          <p:cNvGrpSpPr/>
          <p:nvPr/>
        </p:nvGrpSpPr>
        <p:grpSpPr>
          <a:xfrm>
            <a:off x="3200400" y="411480"/>
            <a:ext cx="2743200" cy="2743200"/>
            <a:chOff x="3200400" y="411480"/>
            <a:chExt cx="2743200" cy="2743200"/>
          </a:xfrm>
        </p:grpSpPr>
        <p:sp>
          <p:nvSpPr>
            <p:cNvPr id="237" name="Google Shape;237;p10"/>
            <p:cNvSpPr/>
            <p:nvPr/>
          </p:nvSpPr>
          <p:spPr>
            <a:xfrm>
              <a:off x="3200400" y="411480"/>
              <a:ext cx="2743200" cy="2743200"/>
            </a:xfrm>
            <a:prstGeom prst="ellipse">
              <a:avLst/>
            </a:prstGeom>
            <a:solidFill>
              <a:srgbClr val="6D28D9"/>
            </a:solidFill>
            <a:ln cap="flat" cmpd="sng" w="38100">
              <a:solidFill>
                <a:srgbClr val="8B5CF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54000" rotWithShape="0" algn="bl" dir="2700000" dist="50800">
                <a:srgbClr val="000000">
                  <a:alpha val="3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38" name="Google Shape;23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58768" y="749808"/>
              <a:ext cx="1426464" cy="1426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" name="Google Shape;239;p10"/>
            <p:cNvSpPr/>
            <p:nvPr/>
          </p:nvSpPr>
          <p:spPr>
            <a:xfrm>
              <a:off x="3200400" y="2212848"/>
              <a:ext cx="2743200" cy="8046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500"/>
                <a:buFont typeface="Cambria"/>
                <a:buNone/>
              </a:pPr>
              <a:r>
                <a:rPr b="1" i="0" lang="en-US" sz="1500" u="none" cap="none" strike="noStrike">
                  <a:solidFill>
                    <a:srgbClr val="FAF7F2"/>
                  </a:solidFill>
                  <a:latin typeface="Cambria"/>
                  <a:ea typeface="Cambria"/>
                  <a:cs typeface="Cambria"/>
                  <a:sym typeface="Cambria"/>
                </a:rPr>
                <a:t>CODE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500"/>
                <a:buFont typeface="Cambria"/>
                <a:buNone/>
              </a:pPr>
              <a:r>
                <a:rPr b="1" i="0" lang="en-US" sz="1500" u="none" cap="none" strike="noStrike">
                  <a:solidFill>
                    <a:srgbClr val="FAF7F2"/>
                  </a:solidFill>
                  <a:latin typeface="Cambria"/>
                  <a:ea typeface="Cambria"/>
                  <a:cs typeface="Cambria"/>
                  <a:sym typeface="Cambria"/>
                </a:rPr>
                <a:t>CHAMPION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" name="Google Shape;240;p10"/>
          <p:cNvSpPr/>
          <p:nvPr/>
        </p:nvSpPr>
        <p:spPr>
          <a:xfrm>
            <a:off x="411480" y="3273552"/>
            <a:ext cx="8321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🏅  Badge of the Day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1" name="Google Shape;241;p10"/>
          <p:cNvGrpSpPr/>
          <p:nvPr/>
        </p:nvGrpSpPr>
        <p:grpSpPr>
          <a:xfrm>
            <a:off x="457200" y="3749050"/>
            <a:ext cx="3137778" cy="329100"/>
            <a:chOff x="457200" y="3749050"/>
            <a:chExt cx="3137778" cy="329100"/>
          </a:xfrm>
        </p:grpSpPr>
        <p:pic>
          <p:nvPicPr>
            <p:cNvPr descr="preencoded.png" id="242" name="Google Shape;242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7200" y="3785616"/>
              <a:ext cx="256032" cy="2560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" name="Google Shape;243;p10"/>
            <p:cNvSpPr/>
            <p:nvPr/>
          </p:nvSpPr>
          <p:spPr>
            <a:xfrm>
              <a:off x="786378" y="3749050"/>
              <a:ext cx="28086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Completed a storyboard + character cutout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preencoded.png" id="244" name="Google Shape;24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288526"/>
            <a:ext cx="213155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0"/>
          <p:cNvSpPr/>
          <p:nvPr/>
        </p:nvSpPr>
        <p:spPr>
          <a:xfrm>
            <a:off x="731256" y="4251950"/>
            <a:ext cx="3273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Built a LEGO scene + Blockly animation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6" name="Google Shape;24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60" y="37856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0"/>
          <p:cNvSpPr/>
          <p:nvPr/>
        </p:nvSpPr>
        <p:spPr>
          <a:xfrm>
            <a:off x="5038344" y="3749040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Presented to the group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8" name="Google Shape;24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60" y="42885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0"/>
          <p:cNvSpPr/>
          <p:nvPr/>
        </p:nvSpPr>
        <p:spPr>
          <a:xfrm>
            <a:off x="5038344" y="4251960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Gave peer feedback to another group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Dream Beyond Limits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"/>
          <p:cNvSpPr/>
          <p:nvPr/>
        </p:nvSpPr>
        <p:spPr>
          <a:xfrm>
            <a:off x="365760" y="256032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Certificates &amp; Celebration  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1828800" y="987552"/>
            <a:ext cx="5486400" cy="3017520"/>
          </a:xfrm>
          <a:prstGeom prst="roundRect">
            <a:avLst>
              <a:gd fmla="val 5455" name="adj"/>
            </a:avLst>
          </a:prstGeom>
          <a:solidFill>
            <a:srgbClr val="F5F3FF"/>
          </a:solidFill>
          <a:ln cap="flat" cmpd="sng" w="254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2011680" y="1170432"/>
            <a:ext cx="5120640" cy="2651760"/>
          </a:xfrm>
          <a:prstGeom prst="roundRect">
            <a:avLst>
              <a:gd fmla="val 4138" name="adj"/>
            </a:avLst>
          </a:prstGeom>
          <a:solidFill>
            <a:srgbClr val="EDE9FE">
              <a:alpha val="30196"/>
            </a:srgbClr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0" name="Google Shape;26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4256" y="123444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1"/>
          <p:cNvSpPr/>
          <p:nvPr/>
        </p:nvSpPr>
        <p:spPr>
          <a:xfrm>
            <a:off x="1920240" y="1737360"/>
            <a:ext cx="5303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CERTIFICATE OF ACHIEVEMENT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1933378" y="2084832"/>
            <a:ext cx="5303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Dream Beyond Limits  · 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1933378" y="2414016"/>
            <a:ext cx="530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mbria"/>
              <a:buNone/>
            </a:pPr>
            <a:r>
              <a:rPr b="1" i="1" lang="en-US" sz="1400" u="none" cap="none" strike="noStrike">
                <a:solidFill>
                  <a:srgbClr val="312E81"/>
                </a:solidFill>
                <a:latin typeface="Cambria"/>
                <a:ea typeface="Cambria"/>
                <a:cs typeface="Cambria"/>
                <a:sym typeface="Cambria"/>
              </a:rPr>
              <a:t>"For coding with courage and creativity"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" name="Google Shape;264;p11"/>
          <p:cNvGrpSpPr/>
          <p:nvPr/>
        </p:nvGrpSpPr>
        <p:grpSpPr>
          <a:xfrm>
            <a:off x="3643297" y="3493008"/>
            <a:ext cx="1700784" cy="237744"/>
            <a:chOff x="3017520" y="3493008"/>
            <a:chExt cx="1700784" cy="237744"/>
          </a:xfrm>
        </p:grpSpPr>
        <p:pic>
          <p:nvPicPr>
            <p:cNvPr descr="preencoded.png" id="265" name="Google Shape;265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17520" y="3493008"/>
              <a:ext cx="237744" cy="2377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reencoded.png" id="266" name="Google Shape;266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83280" y="3493008"/>
              <a:ext cx="237744" cy="2377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reencoded.png" id="267" name="Google Shape;267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49040" y="3493008"/>
              <a:ext cx="237744" cy="2377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reencoded.png" id="268" name="Google Shape;268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14800" y="3493008"/>
              <a:ext cx="237744" cy="2377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reencoded.png" id="269" name="Google Shape;269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80560" y="3493008"/>
              <a:ext cx="237744" cy="2377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0" name="Google Shape;270;p11"/>
          <p:cNvSpPr/>
          <p:nvPr/>
        </p:nvSpPr>
        <p:spPr>
          <a:xfrm>
            <a:off x="365760" y="4160520"/>
            <a:ext cx="8412480" cy="621792"/>
          </a:xfrm>
          <a:prstGeom prst="roundRect">
            <a:avLst>
              <a:gd fmla="val 14706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457200" y="4160520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🎉  Your name. Your moment. Walk up and receive it!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Dream Beyond Limits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2E8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"/>
          <p:cNvSpPr/>
          <p:nvPr/>
        </p:nvSpPr>
        <p:spPr>
          <a:xfrm>
            <a:off x="7132320" y="-914400"/>
            <a:ext cx="4114800" cy="4114800"/>
          </a:xfrm>
          <a:prstGeom prst="ellipse">
            <a:avLst/>
          </a:prstGeom>
          <a:solidFill>
            <a:srgbClr val="3730A3">
              <a:alpha val="45098"/>
            </a:srgbClr>
          </a:solidFill>
          <a:ln cap="flat" cmpd="sng" w="12700">
            <a:solidFill>
              <a:srgbClr val="3730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3730A3">
              <a:alpha val="40000"/>
            </a:srgbClr>
          </a:solidFill>
          <a:ln cap="flat" cmpd="sng" w="12700">
            <a:solidFill>
              <a:srgbClr val="3730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0" name="Google Shape;28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5720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1" name="Google Shape;28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0" y="27432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2" name="Google Shape;28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5280" y="36576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3" name="Google Shape;28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109728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4" name="Google Shape;28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256032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5" name="Google Shape;28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3920" y="320040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6" name="Google Shape;28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438912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7" name="Google Shape;28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44805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2"/>
          <p:cNvSpPr/>
          <p:nvPr/>
        </p:nvSpPr>
        <p:spPr>
          <a:xfrm>
            <a:off x="411480" y="347472"/>
            <a:ext cx="8321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Instruction Explorer  ·  Loop Master  ·  Decision Maker  ·  Creative Coder  ·  Code Champion</a:t>
            </a:r>
            <a:endParaRPr b="0" i="0" sz="1100" u="none" cap="none" strike="noStrike">
              <a:solidFill>
                <a:srgbClr val="FAF7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1463049" y="749800"/>
            <a:ext cx="72696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You Are All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Of This Now.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411480" y="2999232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Nobody can take that away from you.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2560320" y="3566160"/>
            <a:ext cx="4023360" cy="658368"/>
          </a:xfrm>
          <a:prstGeom prst="roundRect">
            <a:avLst>
              <a:gd fmla="val 16667" name="adj"/>
            </a:avLst>
          </a:prstGeom>
          <a:solidFill>
            <a:srgbClr val="6D28D9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2560320" y="3566160"/>
            <a:ext cx="4023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🚀  Keep Building. Keep Coding.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Dream Beyond Limits  ·  2026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"/>
          <p:cNvSpPr/>
          <p:nvPr/>
        </p:nvSpPr>
        <p:spPr>
          <a:xfrm>
            <a:off x="365760" y="256032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Our Coding Journey This Week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347472" y="1097280"/>
            <a:ext cx="1389888" cy="2697480"/>
          </a:xfrm>
          <a:prstGeom prst="roundRect">
            <a:avLst>
              <a:gd fmla="val 7895" name="adj"/>
            </a:avLst>
          </a:prstGeom>
          <a:solidFill>
            <a:srgbClr val="312E81"/>
          </a:solidFill>
          <a:ln cap="flat" cmpd="sng" w="12700">
            <a:solidFill>
              <a:srgbClr val="3730A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"/>
          <p:cNvSpPr/>
          <p:nvPr/>
        </p:nvSpPr>
        <p:spPr>
          <a:xfrm>
            <a:off x="347472" y="1207008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Day 1</a:t>
            </a:r>
            <a:endParaRPr b="0" i="0" sz="1000" u="none" cap="none" strike="noStrike">
              <a:solidFill>
                <a:srgbClr val="FAF7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3" name="Google Shape;30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" y="157276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3"/>
          <p:cNvSpPr/>
          <p:nvPr/>
        </p:nvSpPr>
        <p:spPr>
          <a:xfrm>
            <a:off x="393192" y="2552446"/>
            <a:ext cx="1298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Sequences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5" name="Google Shape;30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5648" y="2318004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3"/>
          <p:cNvSpPr/>
          <p:nvPr/>
        </p:nvSpPr>
        <p:spPr>
          <a:xfrm>
            <a:off x="1901952" y="1097280"/>
            <a:ext cx="1389888" cy="2697480"/>
          </a:xfrm>
          <a:prstGeom prst="roundRect">
            <a:avLst>
              <a:gd fmla="val 7895" name="adj"/>
            </a:avLst>
          </a:prstGeom>
          <a:solidFill>
            <a:srgbClr val="312E81"/>
          </a:solidFill>
          <a:ln cap="flat" cmpd="sng" w="12700">
            <a:solidFill>
              <a:srgbClr val="3730A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1901952" y="1207008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Day 2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8" name="Google Shape;30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59152" y="157276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3"/>
          <p:cNvSpPr/>
          <p:nvPr/>
        </p:nvSpPr>
        <p:spPr>
          <a:xfrm>
            <a:off x="1947675" y="2721789"/>
            <a:ext cx="1298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Loops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0" name="Google Shape;31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0128" y="2318004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3"/>
          <p:cNvSpPr/>
          <p:nvPr/>
        </p:nvSpPr>
        <p:spPr>
          <a:xfrm>
            <a:off x="3456432" y="1097280"/>
            <a:ext cx="1389888" cy="2697480"/>
          </a:xfrm>
          <a:prstGeom prst="roundRect">
            <a:avLst>
              <a:gd fmla="val 7895" name="adj"/>
            </a:avLst>
          </a:prstGeom>
          <a:solidFill>
            <a:srgbClr val="312E81"/>
          </a:solidFill>
          <a:ln cap="flat" cmpd="sng" w="12700">
            <a:solidFill>
              <a:srgbClr val="3730A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3456432" y="1207008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Day 3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3" name="Google Shape;31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13645" y="193341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3"/>
          <p:cNvSpPr/>
          <p:nvPr/>
        </p:nvSpPr>
        <p:spPr>
          <a:xfrm>
            <a:off x="3502152" y="2711196"/>
            <a:ext cx="1298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Conditionals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&amp; Events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5" name="Google Shape;31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4608" y="2318004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3"/>
          <p:cNvSpPr/>
          <p:nvPr/>
        </p:nvSpPr>
        <p:spPr>
          <a:xfrm>
            <a:off x="5010912" y="1097280"/>
            <a:ext cx="1389888" cy="2697480"/>
          </a:xfrm>
          <a:prstGeom prst="roundRect">
            <a:avLst>
              <a:gd fmla="val 7895" name="adj"/>
            </a:avLst>
          </a:prstGeom>
          <a:solidFill>
            <a:srgbClr val="312E81"/>
          </a:solidFill>
          <a:ln cap="flat" cmpd="sng" w="12700">
            <a:solidFill>
              <a:srgbClr val="3730A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"/>
          <p:cNvSpPr/>
          <p:nvPr/>
        </p:nvSpPr>
        <p:spPr>
          <a:xfrm>
            <a:off x="5010912" y="1207008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Day 4</a:t>
            </a:r>
            <a:endParaRPr b="0" i="0" sz="1000" u="none" cap="none" strike="noStrike">
              <a:solidFill>
                <a:srgbClr val="FAF7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8" name="Google Shape;31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88300" y="1858525"/>
            <a:ext cx="620000" cy="767498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3"/>
          <p:cNvSpPr/>
          <p:nvPr/>
        </p:nvSpPr>
        <p:spPr>
          <a:xfrm>
            <a:off x="5056632" y="2711196"/>
            <a:ext cx="1298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Animation &amp;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Collaboration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0" name="Google Shape;32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088" y="2318004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3"/>
          <p:cNvSpPr/>
          <p:nvPr/>
        </p:nvSpPr>
        <p:spPr>
          <a:xfrm>
            <a:off x="6565392" y="1097280"/>
            <a:ext cx="1389888" cy="2697480"/>
          </a:xfrm>
          <a:prstGeom prst="roundRect">
            <a:avLst>
              <a:gd fmla="val 7895" name="adj"/>
            </a:avLst>
          </a:prstGeom>
          <a:solidFill>
            <a:srgbClr val="312E81"/>
          </a:solidFill>
          <a:ln cap="flat" cmpd="sng" w="254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6565392" y="1207008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Day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3" name="Google Shape;323;p13"/>
          <p:cNvPicPr preferRelativeResize="0"/>
          <p:nvPr/>
        </p:nvPicPr>
        <p:blipFill rotWithShape="1">
          <a:blip r:embed="rId8">
            <a:alphaModFix/>
          </a:blip>
          <a:srcRect b="-5042" l="0" r="-5042" t="0"/>
          <a:stretch/>
        </p:blipFill>
        <p:spPr>
          <a:xfrm>
            <a:off x="6967427" y="1879700"/>
            <a:ext cx="686960" cy="8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3"/>
          <p:cNvSpPr/>
          <p:nvPr/>
        </p:nvSpPr>
        <p:spPr>
          <a:xfrm>
            <a:off x="6611112" y="2732363"/>
            <a:ext cx="1298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Final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Showcase!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365760" y="4005072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Every skill from this week powers your final project today!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365760" y="4773168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Dream Beyond Limits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"/>
          <p:cNvSpPr/>
          <p:nvPr/>
        </p:nvSpPr>
        <p:spPr>
          <a:xfrm>
            <a:off x="365760" y="256032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Final Project Checklist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365760" y="1024128"/>
            <a:ext cx="8412480" cy="658368"/>
          </a:xfrm>
          <a:prstGeom prst="roundRect">
            <a:avLst>
              <a:gd fmla="val 11111" name="adj"/>
            </a:avLst>
          </a:prstGeom>
          <a:solidFill>
            <a:srgbClr val="EDE9FE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5" name="Google Shape;33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1152144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6" name="Google Shape;33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416" y="117043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4"/>
          <p:cNvSpPr/>
          <p:nvPr/>
        </p:nvSpPr>
        <p:spPr>
          <a:xfrm>
            <a:off x="1463040" y="10972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3 storyboard panels labelled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1463040" y="1371600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Beginning · Middle · 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7635240" y="1170432"/>
            <a:ext cx="877824" cy="310896"/>
          </a:xfrm>
          <a:prstGeom prst="roundRect">
            <a:avLst>
              <a:gd fmla="val 23529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4"/>
          <p:cNvSpPr/>
          <p:nvPr/>
        </p:nvSpPr>
        <p:spPr>
          <a:xfrm>
            <a:off x="7635240" y="1170432"/>
            <a:ext cx="8778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✓ Done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365760" y="1792224"/>
            <a:ext cx="8412480" cy="658368"/>
          </a:xfrm>
          <a:prstGeom prst="roundRect">
            <a:avLst>
              <a:gd fmla="val 11111" name="adj"/>
            </a:avLst>
          </a:prstGeom>
          <a:solidFill>
            <a:srgbClr val="FAF7F2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2" name="Google Shape;34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1920240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3" name="Google Shape;34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2416" y="193852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4"/>
          <p:cNvSpPr/>
          <p:nvPr/>
        </p:nvSpPr>
        <p:spPr>
          <a:xfrm>
            <a:off x="1463040" y="1865376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Character cutout ready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1463040" y="2139696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Hold it up during your story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7635240" y="1938528"/>
            <a:ext cx="877824" cy="310896"/>
          </a:xfrm>
          <a:prstGeom prst="roundRect">
            <a:avLst>
              <a:gd fmla="val 23529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7635240" y="1938528"/>
            <a:ext cx="8778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✓ Done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fmla="val 11111" name="adj"/>
            </a:avLst>
          </a:prstGeom>
          <a:solidFill>
            <a:srgbClr val="EDE9FE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9" name="Google Shape;34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2688336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0" name="Google Shape;35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2416" y="270662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4"/>
          <p:cNvSpPr/>
          <p:nvPr/>
        </p:nvSpPr>
        <p:spPr>
          <a:xfrm>
            <a:off x="1463040" y="2633472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LEGO scenes built (one per panel)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1463040" y="2907792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Label each with the code concept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7635240" y="2706624"/>
            <a:ext cx="877824" cy="310896"/>
          </a:xfrm>
          <a:prstGeom prst="roundRect">
            <a:avLst>
              <a:gd fmla="val 23529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7635240" y="2706624"/>
            <a:ext cx="8778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✓ Done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365760" y="3328416"/>
            <a:ext cx="8412480" cy="658368"/>
          </a:xfrm>
          <a:prstGeom prst="roundRect">
            <a:avLst>
              <a:gd fmla="val 11111" name="adj"/>
            </a:avLst>
          </a:prstGeom>
          <a:solidFill>
            <a:srgbClr val="FAF7F2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6" name="Google Shape;35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3456432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7" name="Google Shape;35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2416" y="34747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4"/>
          <p:cNvSpPr/>
          <p:nvPr/>
        </p:nvSpPr>
        <p:spPr>
          <a:xfrm>
            <a:off x="1463040" y="34015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Blockly animation working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1463040" y="3675888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At least one event triggers an 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7635240" y="3474720"/>
            <a:ext cx="877824" cy="310896"/>
          </a:xfrm>
          <a:prstGeom prst="roundRect">
            <a:avLst>
              <a:gd fmla="val 23529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4"/>
          <p:cNvSpPr/>
          <p:nvPr/>
        </p:nvSpPr>
        <p:spPr>
          <a:xfrm>
            <a:off x="7635240" y="3474720"/>
            <a:ext cx="8778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✓ Done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365760" y="4096512"/>
            <a:ext cx="8412480" cy="658368"/>
          </a:xfrm>
          <a:prstGeom prst="roundRect">
            <a:avLst>
              <a:gd fmla="val 11111" name="adj"/>
            </a:avLst>
          </a:prstGeom>
          <a:solidFill>
            <a:srgbClr val="EDE9FE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3" name="Google Shape;3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4224528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4" name="Google Shape;36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2416" y="424281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4"/>
          <p:cNvSpPr/>
          <p:nvPr/>
        </p:nvSpPr>
        <p:spPr>
          <a:xfrm>
            <a:off x="1463040" y="4169664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Story told in three sentences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1463040" y="4443984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Beginning… Middle… End…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7635240" y="4242816"/>
            <a:ext cx="877824" cy="310896"/>
          </a:xfrm>
          <a:prstGeom prst="roundRect">
            <a:avLst>
              <a:gd fmla="val 23529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4"/>
          <p:cNvSpPr/>
          <p:nvPr/>
        </p:nvSpPr>
        <p:spPr>
          <a:xfrm>
            <a:off x="7635240" y="4242816"/>
            <a:ext cx="8778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✓ Done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365760" y="4773168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Dream Beyond Limits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5"/>
          <p:cNvSpPr/>
          <p:nvPr/>
        </p:nvSpPr>
        <p:spPr>
          <a:xfrm>
            <a:off x="365760" y="256032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Build + Code Your Project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365760" y="1024128"/>
            <a:ext cx="3977640" cy="3520440"/>
          </a:xfrm>
          <a:prstGeom prst="roundRect">
            <a:avLst>
              <a:gd fmla="val 3636" name="adj"/>
            </a:avLst>
          </a:prstGeom>
          <a:solidFill>
            <a:srgbClr val="EDE9FE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8" name="Google Shape;3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7360" y="120700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5"/>
          <p:cNvSpPr/>
          <p:nvPr/>
        </p:nvSpPr>
        <p:spPr>
          <a:xfrm>
            <a:off x="502920" y="1719072"/>
            <a:ext cx="3703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312E81"/>
                </a:solidFill>
                <a:latin typeface="Cambria"/>
                <a:ea typeface="Cambria"/>
                <a:cs typeface="Cambria"/>
                <a:sym typeface="Cambria"/>
              </a:rPr>
              <a:t>🧱  LEGO Build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548640" y="2212848"/>
            <a:ext cx="3611880" cy="384048"/>
          </a:xfrm>
          <a:prstGeom prst="roundRect">
            <a:avLst>
              <a:gd fmla="val 14286" name="adj"/>
            </a:avLst>
          </a:prstGeom>
          <a:solidFill>
            <a:srgbClr val="DDD6FE">
              <a:alpha val="60000"/>
            </a:srgbClr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640080" y="2231136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1.  3 scenes — one per story panel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548640" y="2724912"/>
            <a:ext cx="3611880" cy="384048"/>
          </a:xfrm>
          <a:prstGeom prst="roundRect">
            <a:avLst>
              <a:gd fmla="val 14286" name="adj"/>
            </a:avLst>
          </a:prstGeom>
          <a:solidFill>
            <a:srgbClr val="DDD6FE">
              <a:alpha val="60000"/>
            </a:srgbClr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640080" y="274320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2.  Arrange from your storyboard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548640" y="3236976"/>
            <a:ext cx="3611880" cy="384048"/>
          </a:xfrm>
          <a:prstGeom prst="roundRect">
            <a:avLst>
              <a:gd fmla="val 14286" name="adj"/>
            </a:avLst>
          </a:prstGeom>
          <a:solidFill>
            <a:srgbClr val="DDD6FE">
              <a:alpha val="60000"/>
            </a:srgbClr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640080" y="3255264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3.  Label each: concept used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548640" y="3749040"/>
            <a:ext cx="3611880" cy="384048"/>
          </a:xfrm>
          <a:prstGeom prst="roundRect">
            <a:avLst>
              <a:gd fmla="val 14286" name="adj"/>
            </a:avLst>
          </a:prstGeom>
          <a:solidFill>
            <a:srgbClr val="DDD6FE">
              <a:alpha val="60000"/>
            </a:srgbClr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640080" y="3767328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4.  Cardboard panel + LEGO side by side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4800600" y="1024128"/>
            <a:ext cx="3977640" cy="3520440"/>
          </a:xfrm>
          <a:prstGeom prst="roundRect">
            <a:avLst>
              <a:gd fmla="val 3636" name="adj"/>
            </a:avLst>
          </a:prstGeom>
          <a:solidFill>
            <a:srgbClr val="312E81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9" name="Google Shape;38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1344" y="120700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5"/>
          <p:cNvSpPr/>
          <p:nvPr/>
        </p:nvSpPr>
        <p:spPr>
          <a:xfrm>
            <a:off x="4937760" y="1719072"/>
            <a:ext cx="3703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💻  Blockly Code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4983480" y="2212848"/>
            <a:ext cx="3611880" cy="384048"/>
          </a:xfrm>
          <a:prstGeom prst="roundRect">
            <a:avLst>
              <a:gd fmla="val 14286" name="adj"/>
            </a:avLst>
          </a:prstGeom>
          <a:solidFill>
            <a:srgbClr val="3730A3">
              <a:alpha val="80000"/>
            </a:srgbClr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5074920" y="2231136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1.  All blocks from the week available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4983480" y="2724912"/>
            <a:ext cx="3611880" cy="384048"/>
          </a:xfrm>
          <a:prstGeom prst="roundRect">
            <a:avLst>
              <a:gd fmla="val 14286" name="adj"/>
            </a:avLst>
          </a:prstGeom>
          <a:solidFill>
            <a:srgbClr val="3730A3">
              <a:alpha val="80000"/>
            </a:srgbClr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5074920" y="274320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2.  Use loops, IFs, and events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4983480" y="3236976"/>
            <a:ext cx="3611880" cy="384048"/>
          </a:xfrm>
          <a:prstGeom prst="roundRect">
            <a:avLst>
              <a:gd fmla="val 14286" name="adj"/>
            </a:avLst>
          </a:prstGeom>
          <a:solidFill>
            <a:srgbClr val="3730A3">
              <a:alpha val="80000"/>
            </a:srgbClr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5"/>
          <p:cNvSpPr/>
          <p:nvPr/>
        </p:nvSpPr>
        <p:spPr>
          <a:xfrm>
            <a:off x="5074920" y="3255264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3.  One working event is enough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4983480" y="3749040"/>
            <a:ext cx="3611880" cy="384048"/>
          </a:xfrm>
          <a:prstGeom prst="roundRect">
            <a:avLst>
              <a:gd fmla="val 14286" name="adj"/>
            </a:avLst>
          </a:prstGeom>
          <a:solidFill>
            <a:srgbClr val="3730A3">
              <a:alpha val="80000"/>
            </a:srgbClr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5074920" y="3767328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4.  Must run live at showcase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365760" y="4590288"/>
            <a:ext cx="8412480" cy="347472"/>
          </a:xfrm>
          <a:prstGeom prst="roundRect">
            <a:avLst>
              <a:gd fmla="val 21053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457200" y="459028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💡  Stuck? Code one button. Make something happen when Left is pressed. That is enough to start.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365760" y="4882896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Dream Beyond Limits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6"/>
          <p:cNvSpPr/>
          <p:nvPr/>
        </p:nvSpPr>
        <p:spPr>
          <a:xfrm>
            <a:off x="365760" y="256032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6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Presentation Guide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365760" y="1024128"/>
            <a:ext cx="8412480" cy="621792"/>
          </a:xfrm>
          <a:prstGeom prst="roundRect">
            <a:avLst>
              <a:gd fmla="val 11765" name="adj"/>
            </a:avLst>
          </a:prstGeom>
          <a:solidFill>
            <a:srgbClr val="EDE9FE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6"/>
          <p:cNvSpPr/>
          <p:nvPr/>
        </p:nvSpPr>
        <p:spPr>
          <a:xfrm>
            <a:off x="493776" y="1115568"/>
            <a:ext cx="402336" cy="402336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6"/>
          <p:cNvSpPr/>
          <p:nvPr/>
        </p:nvSpPr>
        <p:spPr>
          <a:xfrm>
            <a:off x="493776" y="11155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Narrator introduces the story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1005840" y="1353312"/>
            <a:ext cx="7223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"Our story is about…"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365760" y="1783080"/>
            <a:ext cx="8412480" cy="621792"/>
          </a:xfrm>
          <a:prstGeom prst="roundRect">
            <a:avLst>
              <a:gd fmla="val 11765" name="adj"/>
            </a:avLst>
          </a:prstGeom>
          <a:solidFill>
            <a:srgbClr val="FAF7F2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6"/>
          <p:cNvSpPr/>
          <p:nvPr/>
        </p:nvSpPr>
        <p:spPr>
          <a:xfrm>
            <a:off x="493776" y="1874520"/>
            <a:ext cx="402336" cy="402336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6"/>
          <p:cNvSpPr/>
          <p:nvPr/>
        </p:nvSpPr>
        <p:spPr>
          <a:xfrm>
            <a:off x="493776" y="187452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1005840" y="185623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Props Manager shows Panel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1005840" y="2112264"/>
            <a:ext cx="7223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Hold up Beginning panel + character cutout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365760" y="2542032"/>
            <a:ext cx="8412480" cy="621792"/>
          </a:xfrm>
          <a:prstGeom prst="roundRect">
            <a:avLst>
              <a:gd fmla="val 11765" name="adj"/>
            </a:avLst>
          </a:prstGeom>
          <a:solidFill>
            <a:srgbClr val="EDE9FE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6"/>
          <p:cNvSpPr/>
          <p:nvPr/>
        </p:nvSpPr>
        <p:spPr>
          <a:xfrm>
            <a:off x="493776" y="2633472"/>
            <a:ext cx="402336" cy="402336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6"/>
          <p:cNvSpPr/>
          <p:nvPr/>
        </p:nvSpPr>
        <p:spPr>
          <a:xfrm>
            <a:off x="493776" y="263347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1005840" y="2615184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Walk through Panel 2 + Panel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1005840" y="2871216"/>
            <a:ext cx="7223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Middle… then the 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365760" y="3300984"/>
            <a:ext cx="8412480" cy="621792"/>
          </a:xfrm>
          <a:prstGeom prst="roundRect">
            <a:avLst>
              <a:gd fmla="val 11765" name="adj"/>
            </a:avLst>
          </a:prstGeom>
          <a:solidFill>
            <a:srgbClr val="FAF7F2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6"/>
          <p:cNvSpPr/>
          <p:nvPr/>
        </p:nvSpPr>
        <p:spPr>
          <a:xfrm>
            <a:off x="493776" y="3392424"/>
            <a:ext cx="402336" cy="402336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6"/>
          <p:cNvSpPr/>
          <p:nvPr/>
        </p:nvSpPr>
        <p:spPr>
          <a:xfrm>
            <a:off x="493776" y="339242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1005840" y="3374136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Coder runs the animation live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1005840" y="3630168"/>
            <a:ext cx="7223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"When I press Left, the character…"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365760" y="4059936"/>
            <a:ext cx="8412480" cy="621792"/>
          </a:xfrm>
          <a:prstGeom prst="roundRect">
            <a:avLst>
              <a:gd fmla="val 11765" name="adj"/>
            </a:avLst>
          </a:prstGeom>
          <a:solidFill>
            <a:srgbClr val="EDE9FE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6"/>
          <p:cNvSpPr/>
          <p:nvPr/>
        </p:nvSpPr>
        <p:spPr>
          <a:xfrm>
            <a:off x="493776" y="4151376"/>
            <a:ext cx="402336" cy="402336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6"/>
          <p:cNvSpPr/>
          <p:nvPr/>
        </p:nvSpPr>
        <p:spPr>
          <a:xfrm>
            <a:off x="493776" y="415137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1005840" y="413308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Explain one concept you used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1005840" y="4389120"/>
            <a:ext cx="7223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"We used a loop here… our IF rule says…"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365760" y="4773168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Dream Beyond Limits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2E81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7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3730A3">
              <a:alpha val="40000"/>
            </a:srgbClr>
          </a:solidFill>
          <a:ln cap="flat" cmpd="sng" w="12700">
            <a:solidFill>
              <a:srgbClr val="3730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7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730A3">
              <a:alpha val="34901"/>
            </a:srgbClr>
          </a:solidFill>
          <a:ln cap="flat" cmpd="sng" w="12700">
            <a:solidFill>
              <a:srgbClr val="3730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7"/>
          <p:cNvSpPr/>
          <p:nvPr/>
        </p:nvSpPr>
        <p:spPr>
          <a:xfrm>
            <a:off x="411480" y="256032"/>
            <a:ext cx="8321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2 Stars &amp; A Wish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411480" y="896112"/>
            <a:ext cx="8321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Give feedback to every group you watch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411480" y="1371600"/>
            <a:ext cx="2606040" cy="2606040"/>
          </a:xfrm>
          <a:prstGeom prst="roundRect">
            <a:avLst>
              <a:gd fmla="val 4912" name="adj"/>
            </a:avLst>
          </a:prstGeom>
          <a:solidFill>
            <a:srgbClr val="6D28D9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5" name="Google Shape;4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756" y="155448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7"/>
          <p:cNvSpPr/>
          <p:nvPr/>
        </p:nvSpPr>
        <p:spPr>
          <a:xfrm>
            <a:off x="502920" y="2084832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⭐ Star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7"/>
          <p:cNvSpPr/>
          <p:nvPr/>
        </p:nvSpPr>
        <p:spPr>
          <a:xfrm>
            <a:off x="539496" y="2487168"/>
            <a:ext cx="2350008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9D5FF"/>
                </a:solidFill>
                <a:latin typeface="Calibri"/>
                <a:ea typeface="Calibri"/>
                <a:cs typeface="Calibri"/>
                <a:sym typeface="Calibri"/>
              </a:rPr>
              <a:t>"I loved the way you…"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7"/>
          <p:cNvSpPr/>
          <p:nvPr/>
        </p:nvSpPr>
        <p:spPr>
          <a:xfrm>
            <a:off x="3246120" y="1371600"/>
            <a:ext cx="2606040" cy="2606040"/>
          </a:xfrm>
          <a:prstGeom prst="roundRect">
            <a:avLst>
              <a:gd fmla="val 4912" name="adj"/>
            </a:avLst>
          </a:prstGeom>
          <a:solidFill>
            <a:srgbClr val="6D28D9">
              <a:alpha val="80000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9" name="Google Shape;4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1396" y="155448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7"/>
          <p:cNvSpPr/>
          <p:nvPr/>
        </p:nvSpPr>
        <p:spPr>
          <a:xfrm>
            <a:off x="3337560" y="2084832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⭐ Star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7"/>
          <p:cNvSpPr/>
          <p:nvPr/>
        </p:nvSpPr>
        <p:spPr>
          <a:xfrm>
            <a:off x="3374136" y="2487168"/>
            <a:ext cx="2350008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9D5FF"/>
                </a:solidFill>
                <a:latin typeface="Calibri"/>
                <a:ea typeface="Calibri"/>
                <a:cs typeface="Calibri"/>
                <a:sym typeface="Calibri"/>
              </a:rPr>
              <a:t>"Your story was creative because…"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6080760" y="1371600"/>
            <a:ext cx="2606040" cy="2606040"/>
          </a:xfrm>
          <a:prstGeom prst="roundRect">
            <a:avLst>
              <a:gd fmla="val 4912" name="adj"/>
            </a:avLst>
          </a:prstGeom>
          <a:solidFill>
            <a:srgbClr val="3730A3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3" name="Google Shape;4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6036" y="155448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7"/>
          <p:cNvSpPr/>
          <p:nvPr/>
        </p:nvSpPr>
        <p:spPr>
          <a:xfrm>
            <a:off x="6172200" y="2084832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🌠 A Wish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7"/>
          <p:cNvSpPr/>
          <p:nvPr/>
        </p:nvSpPr>
        <p:spPr>
          <a:xfrm>
            <a:off x="6208776" y="2487168"/>
            <a:ext cx="2350008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9D5FF"/>
                </a:solidFill>
                <a:latin typeface="Calibri"/>
                <a:ea typeface="Calibri"/>
                <a:cs typeface="Calibri"/>
                <a:sym typeface="Calibri"/>
              </a:rPr>
              <a:t>"I wish you had added…"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7"/>
          <p:cNvSpPr/>
          <p:nvPr/>
        </p:nvSpPr>
        <p:spPr>
          <a:xfrm>
            <a:off x="411480" y="4114800"/>
            <a:ext cx="8321040" cy="530352"/>
          </a:xfrm>
          <a:prstGeom prst="roundRect">
            <a:avLst>
              <a:gd fmla="val 13793" name="adj"/>
            </a:avLst>
          </a:prstGeom>
          <a:solidFill>
            <a:srgbClr val="6D28D9">
              <a:alpha val="70196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7"/>
          <p:cNvSpPr/>
          <p:nvPr/>
        </p:nvSpPr>
        <p:spPr>
          <a:xfrm>
            <a:off x="502920" y="4114800"/>
            <a:ext cx="8138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💡  Specific is better than general — say exactly what you noticed!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7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Dream Beyond Limits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8"/>
          <p:cNvSpPr/>
          <p:nvPr/>
        </p:nvSpPr>
        <p:spPr>
          <a:xfrm>
            <a:off x="365760" y="256032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8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Reflection Time  ✏️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Write your answers — then draw your favourite moment or character!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/>
          <p:nvPr/>
        </p:nvSpPr>
        <p:spPr>
          <a:xfrm>
            <a:off x="365760" y="1353312"/>
            <a:ext cx="4114800" cy="960120"/>
          </a:xfrm>
          <a:prstGeom prst="roundRect">
            <a:avLst>
              <a:gd fmla="val 9524" name="adj"/>
            </a:avLst>
          </a:prstGeom>
          <a:solidFill>
            <a:srgbClr val="EDE9FE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8"/>
          <p:cNvSpPr/>
          <p:nvPr/>
        </p:nvSpPr>
        <p:spPr>
          <a:xfrm>
            <a:off x="493776" y="1609344"/>
            <a:ext cx="347472" cy="347472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8"/>
          <p:cNvSpPr/>
          <p:nvPr/>
        </p:nvSpPr>
        <p:spPr>
          <a:xfrm>
            <a:off x="493776" y="160934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8"/>
          <p:cNvSpPr/>
          <p:nvPr/>
        </p:nvSpPr>
        <p:spPr>
          <a:xfrm>
            <a:off x="969264" y="1499616"/>
            <a:ext cx="336499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My favourite thing I built this week was…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8"/>
          <p:cNvSpPr/>
          <p:nvPr/>
        </p:nvSpPr>
        <p:spPr>
          <a:xfrm>
            <a:off x="365760" y="2468880"/>
            <a:ext cx="4114800" cy="960120"/>
          </a:xfrm>
          <a:prstGeom prst="roundRect">
            <a:avLst>
              <a:gd fmla="val 9524" name="adj"/>
            </a:avLst>
          </a:prstGeom>
          <a:solidFill>
            <a:srgbClr val="F5F3FF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8"/>
          <p:cNvSpPr/>
          <p:nvPr/>
        </p:nvSpPr>
        <p:spPr>
          <a:xfrm>
            <a:off x="493776" y="2724912"/>
            <a:ext cx="347472" cy="347472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8"/>
          <p:cNvSpPr/>
          <p:nvPr/>
        </p:nvSpPr>
        <p:spPr>
          <a:xfrm>
            <a:off x="493776" y="272491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8"/>
          <p:cNvSpPr/>
          <p:nvPr/>
        </p:nvSpPr>
        <p:spPr>
          <a:xfrm>
            <a:off x="969264" y="2615184"/>
            <a:ext cx="336499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One thing I learned that surprised me was…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/>
          <p:nvPr/>
        </p:nvSpPr>
        <p:spPr>
          <a:xfrm>
            <a:off x="365760" y="3584448"/>
            <a:ext cx="4114800" cy="960120"/>
          </a:xfrm>
          <a:prstGeom prst="roundRect">
            <a:avLst>
              <a:gd fmla="val 9524" name="adj"/>
            </a:avLst>
          </a:prstGeom>
          <a:solidFill>
            <a:srgbClr val="EDE9FE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8"/>
          <p:cNvSpPr/>
          <p:nvPr/>
        </p:nvSpPr>
        <p:spPr>
          <a:xfrm>
            <a:off x="493776" y="3840480"/>
            <a:ext cx="347472" cy="347472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8"/>
          <p:cNvSpPr/>
          <p:nvPr/>
        </p:nvSpPr>
        <p:spPr>
          <a:xfrm>
            <a:off x="493776" y="38404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8"/>
          <p:cNvSpPr/>
          <p:nvPr/>
        </p:nvSpPr>
        <p:spPr>
          <a:xfrm>
            <a:off x="969264" y="3730752"/>
            <a:ext cx="336499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I feel proud because…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8"/>
          <p:cNvSpPr/>
          <p:nvPr/>
        </p:nvSpPr>
        <p:spPr>
          <a:xfrm>
            <a:off x="4663440" y="1353312"/>
            <a:ext cx="4114800" cy="960120"/>
          </a:xfrm>
          <a:prstGeom prst="roundRect">
            <a:avLst>
              <a:gd fmla="val 9524" name="adj"/>
            </a:avLst>
          </a:prstGeom>
          <a:solidFill>
            <a:srgbClr val="F5F3FF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8"/>
          <p:cNvSpPr/>
          <p:nvPr/>
        </p:nvSpPr>
        <p:spPr>
          <a:xfrm>
            <a:off x="4791456" y="1609344"/>
            <a:ext cx="347472" cy="347472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8"/>
          <p:cNvSpPr/>
          <p:nvPr/>
        </p:nvSpPr>
        <p:spPr>
          <a:xfrm>
            <a:off x="4791456" y="160934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8"/>
          <p:cNvSpPr/>
          <p:nvPr/>
        </p:nvSpPr>
        <p:spPr>
          <a:xfrm>
            <a:off x="5266944" y="1499616"/>
            <a:ext cx="336499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The hardest moment was… and I got through it by…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8"/>
          <p:cNvSpPr/>
          <p:nvPr/>
        </p:nvSpPr>
        <p:spPr>
          <a:xfrm>
            <a:off x="4663440" y="2468880"/>
            <a:ext cx="4114800" cy="960120"/>
          </a:xfrm>
          <a:prstGeom prst="roundRect">
            <a:avLst>
              <a:gd fmla="val 9524" name="adj"/>
            </a:avLst>
          </a:prstGeom>
          <a:solidFill>
            <a:srgbClr val="EDE9FE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25400">
              <a:srgbClr val="312E8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8"/>
          <p:cNvSpPr/>
          <p:nvPr/>
        </p:nvSpPr>
        <p:spPr>
          <a:xfrm>
            <a:off x="4791456" y="2724912"/>
            <a:ext cx="347472" cy="347472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8"/>
          <p:cNvSpPr/>
          <p:nvPr/>
        </p:nvSpPr>
        <p:spPr>
          <a:xfrm>
            <a:off x="4791456" y="272491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8"/>
          <p:cNvSpPr/>
          <p:nvPr/>
        </p:nvSpPr>
        <p:spPr>
          <a:xfrm>
            <a:off x="5266944" y="2615184"/>
            <a:ext cx="336499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If I could add one more thing, it would be…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8"/>
          <p:cNvSpPr/>
          <p:nvPr/>
        </p:nvSpPr>
        <p:spPr>
          <a:xfrm>
            <a:off x="4663440" y="2468880"/>
            <a:ext cx="4114800" cy="1920240"/>
          </a:xfrm>
          <a:prstGeom prst="roundRect">
            <a:avLst>
              <a:gd fmla="val 5714" name="adj"/>
            </a:avLst>
          </a:prstGeom>
          <a:solidFill>
            <a:srgbClr val="312E81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8"/>
          <p:cNvSpPr/>
          <p:nvPr/>
        </p:nvSpPr>
        <p:spPr>
          <a:xfrm>
            <a:off x="4663440" y="257860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🎨  Draw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8"/>
          <p:cNvSpPr/>
          <p:nvPr/>
        </p:nvSpPr>
        <p:spPr>
          <a:xfrm>
            <a:off x="4800600" y="2926080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Your favourite moment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or character from the week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8"/>
          <p:cNvSpPr/>
          <p:nvPr/>
        </p:nvSpPr>
        <p:spPr>
          <a:xfrm>
            <a:off x="365760" y="4773168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Dream Beyond Limits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2E81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9"/>
          <p:cNvSpPr/>
          <p:nvPr/>
        </p:nvSpPr>
        <p:spPr>
          <a:xfrm>
            <a:off x="6400800" y="-1371600"/>
            <a:ext cx="5486400" cy="5486400"/>
          </a:xfrm>
          <a:prstGeom prst="ellipse">
            <a:avLst/>
          </a:prstGeom>
          <a:solidFill>
            <a:srgbClr val="3730A3">
              <a:alpha val="34901"/>
            </a:srgbClr>
          </a:solidFill>
          <a:ln cap="flat" cmpd="sng" w="12700">
            <a:solidFill>
              <a:srgbClr val="3730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9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3730A3">
              <a:alpha val="34901"/>
            </a:srgbClr>
          </a:solidFill>
          <a:ln cap="flat" cmpd="sng" w="12700">
            <a:solidFill>
              <a:srgbClr val="3730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9"/>
          <p:cNvSpPr/>
          <p:nvPr/>
        </p:nvSpPr>
        <p:spPr>
          <a:xfrm>
            <a:off x="3200400" y="411480"/>
            <a:ext cx="2743200" cy="2743200"/>
          </a:xfrm>
          <a:prstGeom prst="ellipse">
            <a:avLst/>
          </a:prstGeom>
          <a:solidFill>
            <a:srgbClr val="6D28D9"/>
          </a:solidFill>
          <a:ln cap="flat" cmpd="sng" w="381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27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9" name="Google Shape;49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8768" y="749808"/>
            <a:ext cx="1426464" cy="1426464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19"/>
          <p:cNvSpPr/>
          <p:nvPr/>
        </p:nvSpPr>
        <p:spPr>
          <a:xfrm>
            <a:off x="3200400" y="2212848"/>
            <a:ext cx="27432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CODE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CHAMPION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411480" y="3273552"/>
            <a:ext cx="8321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🏅  Badge of the Day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2" name="Google Shape;50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37856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19"/>
          <p:cNvSpPr/>
          <p:nvPr/>
        </p:nvSpPr>
        <p:spPr>
          <a:xfrm>
            <a:off x="786384" y="3749040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Completed a storyboard + character cutout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4" name="Google Shape;50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2885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19"/>
          <p:cNvSpPr/>
          <p:nvPr/>
        </p:nvSpPr>
        <p:spPr>
          <a:xfrm>
            <a:off x="786384" y="4251960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Built a LEGO scene + Blockly animation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6" name="Google Shape;50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60" y="37856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9"/>
          <p:cNvSpPr/>
          <p:nvPr/>
        </p:nvSpPr>
        <p:spPr>
          <a:xfrm>
            <a:off x="5038344" y="3749040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Presented to the group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8" name="Google Shape;50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60" y="42885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19"/>
          <p:cNvSpPr/>
          <p:nvPr/>
        </p:nvSpPr>
        <p:spPr>
          <a:xfrm>
            <a:off x="5038344" y="4251960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Gave peer feedback to another group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9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Dream Beyond Limits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0"/>
          <p:cNvSpPr/>
          <p:nvPr/>
        </p:nvSpPr>
        <p:spPr>
          <a:xfrm>
            <a:off x="365760" y="256032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312E81"/>
          </a:solidFill>
          <a:ln cap="flat" cmpd="sng" w="1270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0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Certificates &amp; Celebration  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0"/>
          <p:cNvSpPr/>
          <p:nvPr/>
        </p:nvSpPr>
        <p:spPr>
          <a:xfrm>
            <a:off x="1828800" y="987552"/>
            <a:ext cx="5486400" cy="3017520"/>
          </a:xfrm>
          <a:prstGeom prst="roundRect">
            <a:avLst>
              <a:gd fmla="val 5455" name="adj"/>
            </a:avLst>
          </a:prstGeom>
          <a:solidFill>
            <a:srgbClr val="F5F3FF"/>
          </a:solidFill>
          <a:ln cap="flat" cmpd="sng" w="254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0"/>
          <p:cNvSpPr/>
          <p:nvPr/>
        </p:nvSpPr>
        <p:spPr>
          <a:xfrm>
            <a:off x="2011680" y="1170432"/>
            <a:ext cx="5120640" cy="2651760"/>
          </a:xfrm>
          <a:prstGeom prst="roundRect">
            <a:avLst>
              <a:gd fmla="val 4138" name="adj"/>
            </a:avLst>
          </a:prstGeom>
          <a:solidFill>
            <a:srgbClr val="EDE9FE">
              <a:alpha val="30196"/>
            </a:srgbClr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0" name="Google Shape;52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4256" y="123444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20"/>
          <p:cNvSpPr/>
          <p:nvPr/>
        </p:nvSpPr>
        <p:spPr>
          <a:xfrm>
            <a:off x="1920240" y="1737360"/>
            <a:ext cx="5303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CERTIFICATE OF ACHIEVEMENT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0"/>
          <p:cNvSpPr/>
          <p:nvPr/>
        </p:nvSpPr>
        <p:spPr>
          <a:xfrm>
            <a:off x="1920240" y="2084832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Dream Beyond Limits  · 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0"/>
          <p:cNvSpPr/>
          <p:nvPr/>
        </p:nvSpPr>
        <p:spPr>
          <a:xfrm>
            <a:off x="1920240" y="2414016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mbria"/>
              <a:buNone/>
            </a:pPr>
            <a:r>
              <a:rPr b="1" i="1" lang="en-US" sz="1400" u="none" cap="none" strike="noStrike">
                <a:solidFill>
                  <a:srgbClr val="312E81"/>
                </a:solidFill>
                <a:latin typeface="Cambria"/>
                <a:ea typeface="Cambria"/>
                <a:cs typeface="Cambria"/>
                <a:sym typeface="Cambria"/>
              </a:rPr>
              <a:t>"For coding with courage and creativity"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4" name="Google Shape;52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7520" y="3493008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5" name="Google Shape;52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0" y="3493008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6" name="Google Shape;52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9040" y="3493008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7" name="Google Shape;52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0" y="3493008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8" name="Google Shape;52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0560" y="34930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20"/>
          <p:cNvSpPr/>
          <p:nvPr/>
        </p:nvSpPr>
        <p:spPr>
          <a:xfrm>
            <a:off x="365760" y="4160520"/>
            <a:ext cx="8412480" cy="621792"/>
          </a:xfrm>
          <a:prstGeom prst="roundRect">
            <a:avLst>
              <a:gd fmla="val 14706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0"/>
          <p:cNvSpPr/>
          <p:nvPr/>
        </p:nvSpPr>
        <p:spPr>
          <a:xfrm>
            <a:off x="457200" y="4160520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🎉  Your name. Your moment. Walk up and receive it!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0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Dream Beyond Limits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2E81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1"/>
          <p:cNvSpPr/>
          <p:nvPr/>
        </p:nvSpPr>
        <p:spPr>
          <a:xfrm>
            <a:off x="7132320" y="-914400"/>
            <a:ext cx="4114800" cy="4114800"/>
          </a:xfrm>
          <a:prstGeom prst="ellipse">
            <a:avLst/>
          </a:prstGeom>
          <a:solidFill>
            <a:srgbClr val="3730A3">
              <a:alpha val="45098"/>
            </a:srgbClr>
          </a:solidFill>
          <a:ln cap="flat" cmpd="sng" w="12700">
            <a:solidFill>
              <a:srgbClr val="3730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3730A3">
              <a:alpha val="40000"/>
            </a:srgbClr>
          </a:solidFill>
          <a:ln cap="flat" cmpd="sng" w="12700">
            <a:solidFill>
              <a:srgbClr val="3730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9" name="Google Shape;5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5720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0" name="Google Shape;54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0" y="27432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1" name="Google Shape;54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5280" y="36576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2" name="Google Shape;5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109728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3" name="Google Shape;54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256032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4" name="Google Shape;54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3920" y="320040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5" name="Google Shape;54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438912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6" name="Google Shape;5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44805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21"/>
          <p:cNvSpPr/>
          <p:nvPr/>
        </p:nvSpPr>
        <p:spPr>
          <a:xfrm>
            <a:off x="411480" y="347472"/>
            <a:ext cx="8321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Instruction Explorer  ·  Loop Master  ·  Decision Maker  ·  Creative Coder  ·  Code Champion</a:t>
            </a:r>
            <a:endParaRPr b="0" i="0" sz="1100" u="none" cap="none" strike="noStrike">
              <a:solidFill>
                <a:srgbClr val="EDE9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1"/>
          <p:cNvSpPr/>
          <p:nvPr/>
        </p:nvSpPr>
        <p:spPr>
          <a:xfrm>
            <a:off x="411480" y="749808"/>
            <a:ext cx="83210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You Are All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Of This Now.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1"/>
          <p:cNvSpPr/>
          <p:nvPr/>
        </p:nvSpPr>
        <p:spPr>
          <a:xfrm>
            <a:off x="411480" y="2999232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Nobody can take that away from you.</a:t>
            </a:r>
            <a:endParaRPr b="0" i="0" sz="1800" u="none" cap="none" strike="noStrike">
              <a:solidFill>
                <a:srgbClr val="FAF7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1"/>
          <p:cNvSpPr/>
          <p:nvPr/>
        </p:nvSpPr>
        <p:spPr>
          <a:xfrm>
            <a:off x="2560320" y="3566160"/>
            <a:ext cx="4023360" cy="658368"/>
          </a:xfrm>
          <a:prstGeom prst="roundRect">
            <a:avLst>
              <a:gd fmla="val 16667" name="adj"/>
            </a:avLst>
          </a:prstGeom>
          <a:solidFill>
            <a:srgbClr val="6D28D9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1"/>
          <p:cNvSpPr/>
          <p:nvPr/>
        </p:nvSpPr>
        <p:spPr>
          <a:xfrm>
            <a:off x="2560320" y="3566160"/>
            <a:ext cx="4023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AF7F2"/>
                </a:solidFill>
                <a:latin typeface="Cambria"/>
                <a:ea typeface="Cambria"/>
                <a:cs typeface="Cambria"/>
                <a:sym typeface="Cambria"/>
              </a:rPr>
              <a:t>🚀  Keep Building. Keep Coding.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1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Dream Beyond Limits  · 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