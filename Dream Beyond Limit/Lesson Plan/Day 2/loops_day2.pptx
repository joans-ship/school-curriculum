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c38598004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c38598004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c38598004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ay2/assets/loop_icon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2135" y="1781100"/>
            <a:ext cx="2443326" cy="24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48640" y="1417320"/>
            <a:ext cx="4023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9035" y="2606050"/>
            <a:ext cx="2896200" cy="594300"/>
          </a:xfrm>
          <a:prstGeom prst="roundRect">
            <a:avLst>
              <a:gd fmla="val 15385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Smarter, Not Harder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9017" y="3444350"/>
            <a:ext cx="81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2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-35975"/>
            <a:ext cx="9217200" cy="292500"/>
          </a:xfrm>
          <a:prstGeom prst="rect">
            <a:avLst/>
          </a:prstGeom>
          <a:solidFill>
            <a:srgbClr val="6D28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AF7F2"/>
                </a:solidFill>
              </a:rPr>
              <a:t>           </a:t>
            </a:r>
            <a:r>
              <a:rPr b="1" lang="en-US" sz="1100">
                <a:solidFill>
                  <a:srgbClr val="FAF7F2"/>
                </a:solidFill>
              </a:rPr>
              <a:t>THE CODING CLUBHOUSE</a:t>
            </a:r>
            <a:endParaRPr b="1" sz="1100">
              <a:solidFill>
                <a:srgbClr val="FAF7F2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 rot="-5400000">
            <a:off x="-2454600" y="2430200"/>
            <a:ext cx="5201700" cy="292500"/>
          </a:xfrm>
          <a:prstGeom prst="rect">
            <a:avLst/>
          </a:prstGeom>
          <a:solidFill>
            <a:srgbClr val="6D28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rot="-5400000">
            <a:off x="6518400" y="2428982"/>
            <a:ext cx="5201700" cy="292500"/>
          </a:xfrm>
          <a:prstGeom prst="rect">
            <a:avLst/>
          </a:prstGeom>
          <a:solidFill>
            <a:srgbClr val="6D28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4883575"/>
            <a:ext cx="9217200" cy="292500"/>
          </a:xfrm>
          <a:prstGeom prst="rect">
            <a:avLst/>
          </a:prstGeom>
          <a:solidFill>
            <a:srgbClr val="6D28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          </a:t>
            </a:r>
            <a:r>
              <a:rPr b="1" lang="en-US" sz="1100">
                <a:solidFill>
                  <a:schemeClr val="lt1"/>
                </a:solidFill>
              </a:rPr>
              <a:t>DREAM BEYOND LIMITS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Learning Goals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" name="Google Shape;30;p4"/>
          <p:cNvGrpSpPr/>
          <p:nvPr/>
        </p:nvGrpSpPr>
        <p:grpSpPr>
          <a:xfrm>
            <a:off x="548640" y="1371600"/>
            <a:ext cx="3931920" cy="1691640"/>
            <a:chOff x="548640" y="1371600"/>
            <a:chExt cx="3931920" cy="1691640"/>
          </a:xfrm>
        </p:grpSpPr>
        <p:sp>
          <p:nvSpPr>
            <p:cNvPr id="31" name="Google Shape;31;p4"/>
            <p:cNvSpPr/>
            <p:nvPr/>
          </p:nvSpPr>
          <p:spPr>
            <a:xfrm>
              <a:off x="548640" y="1371600"/>
              <a:ext cx="3931920" cy="1691640"/>
            </a:xfrm>
            <a:prstGeom prst="roundRect">
              <a:avLst>
                <a:gd fmla="val 6486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822960" y="1664208"/>
              <a:ext cx="685800" cy="68580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3" name="Google Shape;3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7265" y="1818513"/>
              <a:ext cx="377190" cy="377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34;p4"/>
            <p:cNvSpPr/>
            <p:nvPr/>
          </p:nvSpPr>
          <p:spPr>
            <a:xfrm>
              <a:off x="822960" y="2450592"/>
              <a:ext cx="33832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Explain what a loop is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4754880" y="1371600"/>
            <a:ext cx="3931920" cy="1691640"/>
            <a:chOff x="4754880" y="1371600"/>
            <a:chExt cx="3931920" cy="1691640"/>
          </a:xfrm>
        </p:grpSpPr>
        <p:sp>
          <p:nvSpPr>
            <p:cNvPr id="36" name="Google Shape;36;p4"/>
            <p:cNvSpPr/>
            <p:nvPr/>
          </p:nvSpPr>
          <p:spPr>
            <a:xfrm>
              <a:off x="4754880" y="1371600"/>
              <a:ext cx="3931920" cy="1691640"/>
            </a:xfrm>
            <a:prstGeom prst="roundRect">
              <a:avLst>
                <a:gd fmla="val 6486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5029200" y="1664208"/>
              <a:ext cx="685800" cy="68580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8" name="Google Shape;3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83505" y="1818513"/>
              <a:ext cx="377190" cy="377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4"/>
            <p:cNvSpPr/>
            <p:nvPr/>
          </p:nvSpPr>
          <p:spPr>
            <a:xfrm>
              <a:off x="5029200" y="2450592"/>
              <a:ext cx="33832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Spot the repeating pattern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>
            <a:off x="548640" y="3337560"/>
            <a:ext cx="3931920" cy="1691640"/>
            <a:chOff x="548640" y="3337560"/>
            <a:chExt cx="3931920" cy="1691640"/>
          </a:xfrm>
        </p:grpSpPr>
        <p:sp>
          <p:nvSpPr>
            <p:cNvPr id="41" name="Google Shape;41;p4"/>
            <p:cNvSpPr/>
            <p:nvPr/>
          </p:nvSpPr>
          <p:spPr>
            <a:xfrm>
              <a:off x="548640" y="3337560"/>
              <a:ext cx="3931920" cy="1691640"/>
            </a:xfrm>
            <a:prstGeom prst="roundRect">
              <a:avLst>
                <a:gd fmla="val 6486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22960" y="3630168"/>
              <a:ext cx="685800" cy="68580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3" name="Google Shape;43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7265" y="3784473"/>
              <a:ext cx="377190" cy="377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4"/>
            <p:cNvSpPr/>
            <p:nvPr/>
          </p:nvSpPr>
          <p:spPr>
            <a:xfrm>
              <a:off x="822960" y="4416552"/>
              <a:ext cx="33832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Build a loop with LEGO bricks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4754880" y="3337560"/>
            <a:ext cx="3931800" cy="1691700"/>
            <a:chOff x="4754880" y="3337560"/>
            <a:chExt cx="3931800" cy="1691700"/>
          </a:xfrm>
        </p:grpSpPr>
        <p:sp>
          <p:nvSpPr>
            <p:cNvPr id="46" name="Google Shape;46;p4"/>
            <p:cNvSpPr/>
            <p:nvPr/>
          </p:nvSpPr>
          <p:spPr>
            <a:xfrm>
              <a:off x="4754880" y="3337560"/>
              <a:ext cx="3931800" cy="1691700"/>
            </a:xfrm>
            <a:prstGeom prst="roundRect">
              <a:avLst>
                <a:gd fmla="val 6486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5029200" y="3630168"/>
              <a:ext cx="685800" cy="68580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8" name="Google Shape;4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83505" y="3784473"/>
              <a:ext cx="377190" cy="377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4"/>
            <p:cNvSpPr/>
            <p:nvPr/>
          </p:nvSpPr>
          <p:spPr>
            <a:xfrm>
              <a:off x="5029200" y="4416552"/>
              <a:ext cx="33834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Use a repeat block in Blockly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What Is a Sequence?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3" y="1083028"/>
            <a:ext cx="275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Calibri"/>
              <a:buNone/>
            </a:pPr>
            <a:r>
              <a:rPr b="0" lang="en-US" sz="18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Steps done in a specific order</a:t>
            </a:r>
            <a:endParaRPr b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5"/>
          <p:cNvGrpSpPr/>
          <p:nvPr/>
        </p:nvGrpSpPr>
        <p:grpSpPr>
          <a:xfrm>
            <a:off x="1424817" y="2103120"/>
            <a:ext cx="1661283" cy="1508700"/>
            <a:chOff x="1424817" y="2103120"/>
            <a:chExt cx="1661283" cy="1508700"/>
          </a:xfrm>
        </p:grpSpPr>
        <p:sp>
          <p:nvSpPr>
            <p:cNvPr id="58" name="Google Shape;58;p5"/>
            <p:cNvSpPr/>
            <p:nvPr/>
          </p:nvSpPr>
          <p:spPr>
            <a:xfrm>
              <a:off x="1440180" y="2103120"/>
              <a:ext cx="1188720" cy="118872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FAF7F2"/>
                  </a:solidFill>
                </a:rPr>
                <a:t>1</a:t>
              </a:r>
              <a:endParaRPr b="1" sz="3400">
                <a:solidFill>
                  <a:srgbClr val="FAF7F2"/>
                </a:solidFill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424817" y="3246120"/>
              <a:ext cx="11886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Clap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674620" y="2569464"/>
              <a:ext cx="411480" cy="2560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3116457" y="2103120"/>
            <a:ext cx="1646040" cy="1524063"/>
            <a:chOff x="3116457" y="2103120"/>
            <a:chExt cx="1646040" cy="1524063"/>
          </a:xfrm>
        </p:grpSpPr>
        <p:sp>
          <p:nvSpPr>
            <p:cNvPr id="62" name="Google Shape;62;p5"/>
            <p:cNvSpPr/>
            <p:nvPr/>
          </p:nvSpPr>
          <p:spPr>
            <a:xfrm>
              <a:off x="3116457" y="3261483"/>
              <a:ext cx="11886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Hop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3116457" y="2103120"/>
              <a:ext cx="1188600" cy="118860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FAF7F2"/>
                  </a:solidFill>
                </a:rPr>
                <a:t>2</a:t>
              </a:r>
              <a:endParaRPr b="1" sz="3400">
                <a:solidFill>
                  <a:srgbClr val="FAF7F2"/>
                </a:solidFill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4350897" y="2569464"/>
              <a:ext cx="411600" cy="255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4792734" y="2103120"/>
            <a:ext cx="1661403" cy="1524063"/>
            <a:chOff x="4792734" y="2103120"/>
            <a:chExt cx="1661403" cy="1524063"/>
          </a:xfrm>
        </p:grpSpPr>
        <p:sp>
          <p:nvSpPr>
            <p:cNvPr id="66" name="Google Shape;66;p5"/>
            <p:cNvSpPr/>
            <p:nvPr/>
          </p:nvSpPr>
          <p:spPr>
            <a:xfrm>
              <a:off x="4792734" y="2103120"/>
              <a:ext cx="1188600" cy="118860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FAF7F2"/>
                  </a:solidFill>
                </a:rPr>
                <a:t>3</a:t>
              </a:r>
              <a:endParaRPr b="1" sz="3400">
                <a:solidFill>
                  <a:srgbClr val="FAF7F2"/>
                </a:solidFill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4808097" y="3261483"/>
              <a:ext cx="11886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Spin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042537" y="2569464"/>
              <a:ext cx="411600" cy="255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5"/>
          <p:cNvGrpSpPr/>
          <p:nvPr/>
        </p:nvGrpSpPr>
        <p:grpSpPr>
          <a:xfrm>
            <a:off x="6469011" y="2103120"/>
            <a:ext cx="1219326" cy="1524063"/>
            <a:chOff x="6469011" y="2103120"/>
            <a:chExt cx="1219326" cy="1524063"/>
          </a:xfrm>
        </p:grpSpPr>
        <p:sp>
          <p:nvSpPr>
            <p:cNvPr id="70" name="Google Shape;70;p5"/>
            <p:cNvSpPr/>
            <p:nvPr/>
          </p:nvSpPr>
          <p:spPr>
            <a:xfrm>
              <a:off x="6469011" y="2103120"/>
              <a:ext cx="1188600" cy="118860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FAF7F2"/>
                  </a:solidFill>
                </a:rPr>
                <a:t>4</a:t>
              </a:r>
              <a:endParaRPr b="1" sz="3400">
                <a:solidFill>
                  <a:srgbClr val="FAF7F2"/>
                </a:solidFill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99737" y="3261483"/>
              <a:ext cx="11886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Sit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2286000" y="3977640"/>
            <a:ext cx="457200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Order Matters!</a:t>
            </a:r>
            <a:endParaRPr b="1" sz="22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Introducing Loops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oogle Shape;79;p6"/>
          <p:cNvGrpSpPr/>
          <p:nvPr/>
        </p:nvGrpSpPr>
        <p:grpSpPr>
          <a:xfrm>
            <a:off x="548640" y="1143000"/>
            <a:ext cx="3840480" cy="2706624"/>
            <a:chOff x="548640" y="1143000"/>
            <a:chExt cx="3840480" cy="2706624"/>
          </a:xfrm>
        </p:grpSpPr>
        <p:sp>
          <p:nvSpPr>
            <p:cNvPr id="80" name="Google Shape;80;p6"/>
            <p:cNvSpPr/>
            <p:nvPr/>
          </p:nvSpPr>
          <p:spPr>
            <a:xfrm>
              <a:off x="548640" y="1143000"/>
              <a:ext cx="38404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WITHOUT A LOOP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548640" y="169164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548640" y="16916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1115568" y="169164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1115568" y="16916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1682496" y="169164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1682496" y="16916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2249424" y="169164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2249424" y="16916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548640" y="2258568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548640" y="22585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1115568" y="2258568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1115568" y="22585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682496" y="2258568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1682496" y="22585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2249424" y="2258568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2249424" y="22585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548640" y="2825496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548640" y="282549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115568" y="2825496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1115568" y="282549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682496" y="2825496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682496" y="282549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2249424" y="2825496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2249424" y="282549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548640" y="3392424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48640" y="339242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1115568" y="3392424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1115568" y="339242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1682496" y="3392424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1682496" y="339242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2249424" y="3392424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2249424" y="339242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6"/>
          <p:cNvGrpSpPr/>
          <p:nvPr/>
        </p:nvGrpSpPr>
        <p:grpSpPr>
          <a:xfrm>
            <a:off x="4937760" y="1143000"/>
            <a:ext cx="3657600" cy="2286000"/>
            <a:chOff x="4937760" y="1143000"/>
            <a:chExt cx="3657600" cy="2286000"/>
          </a:xfrm>
        </p:grpSpPr>
        <p:sp>
          <p:nvSpPr>
            <p:cNvPr id="114" name="Google Shape;114;p6"/>
            <p:cNvSpPr/>
            <p:nvPr/>
          </p:nvSpPr>
          <p:spPr>
            <a:xfrm>
              <a:off x="4937760" y="1143000"/>
              <a:ext cx="3657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WITH A LOOP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5120640" y="210312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5120640" y="210312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687568" y="210312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687568" y="210312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254496" y="210312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254496" y="210312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821424" y="2103120"/>
              <a:ext cx="457200" cy="457200"/>
            </a:xfrm>
            <a:prstGeom prst="roundRect">
              <a:avLst>
                <a:gd fmla="val 18000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6821424" y="210312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4956048" y="1993392"/>
              <a:ext cx="164592" cy="676656"/>
            </a:xfrm>
            <a:prstGeom prst="rightBracket">
              <a:avLst>
                <a:gd fmla="val 8333" name="adj"/>
              </a:avLst>
            </a:prstGeom>
            <a:noFill/>
            <a:ln cap="flat" cmpd="sng" w="317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7278624" y="1993392"/>
              <a:ext cx="164592" cy="676656"/>
            </a:xfrm>
            <a:prstGeom prst="leftBracket">
              <a:avLst>
                <a:gd fmla="val 8333" name="adj"/>
              </a:avLst>
            </a:prstGeom>
            <a:noFill/>
            <a:ln cap="flat" cmpd="sng" w="317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5120640" y="2880360"/>
              <a:ext cx="2157984" cy="548640"/>
            </a:xfrm>
            <a:prstGeom prst="roundRect">
              <a:avLst>
                <a:gd fmla="val 16667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5120640" y="2880360"/>
              <a:ext cx="21579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REPEAT 4 TIMES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6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A loop = repeat instructions without rewriting them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Loops Are Everywhere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5816" y="1636776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6176" y="1636776"/>
            <a:ext cx="201168" cy="201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7"/>
          <p:cNvGrpSpPr/>
          <p:nvPr/>
        </p:nvGrpSpPr>
        <p:grpSpPr>
          <a:xfrm>
            <a:off x="457200" y="1371600"/>
            <a:ext cx="2468880" cy="2651760"/>
            <a:chOff x="457200" y="1371600"/>
            <a:chExt cx="2468880" cy="2651760"/>
          </a:xfrm>
        </p:grpSpPr>
        <p:sp>
          <p:nvSpPr>
            <p:cNvPr id="137" name="Google Shape;137;p7"/>
            <p:cNvSpPr/>
            <p:nvPr/>
          </p:nvSpPr>
          <p:spPr>
            <a:xfrm>
              <a:off x="457200" y="1371600"/>
              <a:ext cx="2468880" cy="2651760"/>
            </a:xfrm>
            <a:prstGeom prst="roundRect">
              <a:avLst>
                <a:gd fmla="val 4444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2423160" y="1554480"/>
              <a:ext cx="365760" cy="36576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39" name="Google Shape;13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05456" y="1636776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7"/>
            <p:cNvSpPr/>
            <p:nvPr/>
          </p:nvSpPr>
          <p:spPr>
            <a:xfrm>
              <a:off x="1188720" y="1920240"/>
              <a:ext cx="1005840" cy="100584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457200" y="3154680"/>
              <a:ext cx="24688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Brushing Teeth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2" name="Google Shape;14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03025" y="2034550"/>
              <a:ext cx="777225" cy="777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7"/>
          <p:cNvGrpSpPr/>
          <p:nvPr/>
        </p:nvGrpSpPr>
        <p:grpSpPr>
          <a:xfrm>
            <a:off x="3337560" y="1371600"/>
            <a:ext cx="2468880" cy="2651760"/>
            <a:chOff x="3337560" y="1371600"/>
            <a:chExt cx="2468880" cy="2651760"/>
          </a:xfrm>
        </p:grpSpPr>
        <p:sp>
          <p:nvSpPr>
            <p:cNvPr id="144" name="Google Shape;144;p7"/>
            <p:cNvSpPr/>
            <p:nvPr/>
          </p:nvSpPr>
          <p:spPr>
            <a:xfrm>
              <a:off x="3337560" y="1371600"/>
              <a:ext cx="2468880" cy="2651760"/>
            </a:xfrm>
            <a:prstGeom prst="roundRect">
              <a:avLst>
                <a:gd fmla="val 4444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5303520" y="1554480"/>
              <a:ext cx="365700" cy="36570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069080" y="1920240"/>
              <a:ext cx="1005900" cy="100590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3337560" y="3154680"/>
              <a:ext cx="24688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Washing Dishes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8" name="Google Shape;148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39167" y="2142436"/>
              <a:ext cx="553225" cy="55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149" name="Google Shape;14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77090" y="1635547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7"/>
          <p:cNvGrpSpPr/>
          <p:nvPr/>
        </p:nvGrpSpPr>
        <p:grpSpPr>
          <a:xfrm>
            <a:off x="6217920" y="1371600"/>
            <a:ext cx="2468880" cy="2651760"/>
            <a:chOff x="6217920" y="1371600"/>
            <a:chExt cx="2468880" cy="2651760"/>
          </a:xfrm>
        </p:grpSpPr>
        <p:sp>
          <p:nvSpPr>
            <p:cNvPr id="151" name="Google Shape;151;p7"/>
            <p:cNvSpPr/>
            <p:nvPr/>
          </p:nvSpPr>
          <p:spPr>
            <a:xfrm>
              <a:off x="6217920" y="1371600"/>
              <a:ext cx="2468880" cy="2651760"/>
            </a:xfrm>
            <a:prstGeom prst="roundRect">
              <a:avLst>
                <a:gd fmla="val 4444" name="adj"/>
              </a:avLst>
            </a:prstGeom>
            <a:solidFill>
              <a:srgbClr val="6D28D9">
                <a:alpha val="7843"/>
              </a:srgbClr>
            </a:solidFill>
            <a:ln cap="flat" cmpd="sng" w="12700">
              <a:solidFill>
                <a:srgbClr val="6D28D9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183880" y="1554480"/>
              <a:ext cx="365760" cy="36576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6949440" y="1920240"/>
              <a:ext cx="1005840" cy="1005840"/>
            </a:xfrm>
            <a:prstGeom prst="ellipse">
              <a:avLst/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54" name="Google Shape;154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75754" y="2146554"/>
              <a:ext cx="553212" cy="55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7"/>
            <p:cNvSpPr/>
            <p:nvPr/>
          </p:nvSpPr>
          <p:spPr>
            <a:xfrm>
              <a:off x="6217920" y="3154680"/>
              <a:ext cx="24688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Singing a Chorus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156" name="Google Shape;15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64086" y="163431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28D9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Try It With Your Body!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463040" y="1371600"/>
            <a:ext cx="1371600" cy="137160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463040" y="13716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1. Clap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309360" y="1371600"/>
            <a:ext cx="1371600" cy="137160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309360" y="13716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2. 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309360" y="3383280"/>
            <a:ext cx="1371600" cy="137160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309360" y="33832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3. Spin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463040" y="3383280"/>
            <a:ext cx="1371600" cy="137160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463040" y="33832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4. 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971800" y="1892808"/>
            <a:ext cx="3200400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30568" y="2880360"/>
            <a:ext cx="329184" cy="3657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971800" y="3904488"/>
            <a:ext cx="3200400" cy="32918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984248" y="2880360"/>
            <a:ext cx="329184" cy="36576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834640" y="27889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REPEAT!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Find the Repeating Pattern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88720" y="118872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312E81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188720" y="169164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6D28D9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1188720" y="219456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312E81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188720" y="269748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6D28D9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188720" y="320040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312E81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88720" y="3703320"/>
            <a:ext cx="1920240" cy="502920"/>
          </a:xfrm>
          <a:prstGeom prst="roundRect">
            <a:avLst>
              <a:gd fmla="val 7273" name="adj"/>
            </a:avLst>
          </a:prstGeom>
          <a:solidFill>
            <a:srgbClr val="6D28D9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182112" y="3200400"/>
            <a:ext cx="182880" cy="1005840"/>
          </a:xfrm>
          <a:prstGeom prst="rightBracket">
            <a:avLst>
              <a:gd fmla="val 8333" name="adj"/>
            </a:avLst>
          </a:prstGeom>
          <a:noFill/>
          <a:ln cap="flat" cmpd="sng" w="381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429000" y="320040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Repeating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120640" y="1554480"/>
            <a:ext cx="777240" cy="7772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519" y="172935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6080760" y="155448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Find the repeating unit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120640" y="2606040"/>
            <a:ext cx="777240" cy="7772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5519" y="27809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6080760" y="26060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Say it as a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120640" y="3657600"/>
            <a:ext cx="777240" cy="7772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5519" y="383247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6080760" y="36576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Build it bottom to 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Build the Loop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423160" y="1234440"/>
            <a:ext cx="1005840" cy="10058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9474" y="146075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2103120" y="2313432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Look at the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Pattern Card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520440" y="160020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069080" y="1234440"/>
            <a:ext cx="1005840" cy="10058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394" y="146075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3749040" y="2313432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Find the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Repeating Unit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166360" y="160020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715000" y="1234440"/>
            <a:ext cx="1005840" cy="1005840"/>
          </a:xfrm>
          <a:prstGeom prst="ellipse">
            <a:avLst/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1314" y="146075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5394960" y="2313432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Build the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32461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Same Stack. Fewer Instructions.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463040" y="3840480"/>
            <a:ext cx="6400800" cy="502920"/>
          </a:xfrm>
          <a:prstGeom prst="roundRect">
            <a:avLst>
              <a:gd fmla="val 14545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463040" y="384048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6 Instructions — One by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463040" y="4480560"/>
            <a:ext cx="3200400" cy="502920"/>
          </a:xfrm>
          <a:prstGeom prst="roundRect">
            <a:avLst>
              <a:gd fmla="val 14545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463040" y="4480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 Instructions — Repeat 3×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548640" y="320040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Blockly: Loop Builder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48640" y="1234440"/>
            <a:ext cx="4206300" cy="3520500"/>
          </a:xfrm>
          <a:prstGeom prst="roundRect">
            <a:avLst>
              <a:gd fmla="val 2597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22960" y="14630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TARGET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2296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32588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182880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33172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83464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337560" y="1874520"/>
            <a:ext cx="411600" cy="411600"/>
          </a:xfrm>
          <a:prstGeom prst="roundRect">
            <a:avLst>
              <a:gd fmla="val 18000" name="adj"/>
            </a:avLst>
          </a:prstGeom>
          <a:solidFill>
            <a:srgbClr val="FAF7F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82296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32588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82880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233172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83464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337560" y="18745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Calibri"/>
              <a:buNone/>
            </a:pPr>
            <a:r>
              <a:t/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22960" y="2606040"/>
            <a:ext cx="914400" cy="502800"/>
          </a:xfrm>
          <a:prstGeom prst="roundRect">
            <a:avLst>
              <a:gd fmla="val 14545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11"/>
          <p:cNvGrpSpPr/>
          <p:nvPr/>
        </p:nvGrpSpPr>
        <p:grpSpPr>
          <a:xfrm>
            <a:off x="822960" y="2606040"/>
            <a:ext cx="1554480" cy="502800"/>
            <a:chOff x="822960" y="2606040"/>
            <a:chExt cx="1554480" cy="502800"/>
          </a:xfrm>
        </p:grpSpPr>
        <p:sp>
          <p:nvSpPr>
            <p:cNvPr id="243" name="Google Shape;243;p11"/>
            <p:cNvSpPr/>
            <p:nvPr/>
          </p:nvSpPr>
          <p:spPr>
            <a:xfrm>
              <a:off x="822960" y="2606040"/>
              <a:ext cx="9144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REPEAT 3×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920240" y="2697480"/>
              <a:ext cx="457200" cy="274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1"/>
          <p:cNvSpPr/>
          <p:nvPr/>
        </p:nvSpPr>
        <p:spPr>
          <a:xfrm>
            <a:off x="822960" y="338328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Fewer blocks =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counter turns green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120640" y="1325880"/>
            <a:ext cx="3474600" cy="685800"/>
          </a:xfrm>
          <a:prstGeom prst="roundRect">
            <a:avLst>
              <a:gd fmla="val 13333" name="adj"/>
            </a:avLst>
          </a:prstGeom>
          <a:solidFill>
            <a:srgbClr val="6D28D9">
              <a:alpha val="7840"/>
            </a:srgbClr>
          </a:solidFill>
          <a:ln cap="flat" cmpd="sng" w="12700">
            <a:solidFill>
              <a:srgbClr val="6D28D9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349240" y="132588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Level 1 — 6-Brick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120640" y="2194560"/>
            <a:ext cx="3474600" cy="685800"/>
          </a:xfrm>
          <a:prstGeom prst="roundRect">
            <a:avLst>
              <a:gd fmla="val 13333" name="adj"/>
            </a:avLst>
          </a:prstGeom>
          <a:solidFill>
            <a:srgbClr val="6D28D9">
              <a:alpha val="7840"/>
            </a:srgbClr>
          </a:solidFill>
          <a:ln cap="flat" cmpd="sng" w="12700">
            <a:solidFill>
              <a:srgbClr val="6D28D9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5349240" y="219456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Level 2 — 8-Brick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120640" y="3063240"/>
            <a:ext cx="3474600" cy="685800"/>
          </a:xfrm>
          <a:prstGeom prst="roundRect">
            <a:avLst>
              <a:gd fmla="val 13333" name="adj"/>
            </a:avLst>
          </a:prstGeom>
          <a:solidFill>
            <a:srgbClr val="6D28D9">
              <a:alpha val="7840"/>
            </a:srgbClr>
          </a:solidFill>
          <a:ln cap="flat" cmpd="sng" w="12700">
            <a:solidFill>
              <a:srgbClr val="6D28D9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349240" y="306324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Level 3 — 3-Colour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120640" y="3931920"/>
            <a:ext cx="3474600" cy="685800"/>
          </a:xfrm>
          <a:prstGeom prst="roundRect">
            <a:avLst>
              <a:gd fmla="val 13333" name="adj"/>
            </a:avLst>
          </a:prstGeom>
          <a:solidFill>
            <a:srgbClr val="6D28D9">
              <a:alpha val="7840"/>
            </a:srgbClr>
          </a:solidFill>
          <a:ln cap="flat" cmpd="sng" w="12700">
            <a:solidFill>
              <a:srgbClr val="6D28D9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349240" y="393192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Level 4 — Design Your Own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Badge For The 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749040" y="960120"/>
            <a:ext cx="1645920" cy="164592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9372" y="1330452"/>
            <a:ext cx="905256" cy="9052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2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LOOP MASTER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320040" y="3703320"/>
            <a:ext cx="2651760" cy="1051560"/>
          </a:xfrm>
          <a:prstGeom prst="roundRect">
            <a:avLst>
              <a:gd fmla="val 8696" name="adj"/>
            </a:avLst>
          </a:prstGeom>
          <a:solidFill>
            <a:srgbClr val="6D28D9">
              <a:alpha val="14901"/>
            </a:srgbClr>
          </a:solidFill>
          <a:ln cap="flat" cmpd="sng" w="12700">
            <a:solidFill>
              <a:srgbClr val="6D28D9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Built LEGO stack and identified the repeating unit</a:t>
            </a:r>
            <a:endParaRPr b="1" sz="13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3246120" y="3703320"/>
            <a:ext cx="2651760" cy="1051560"/>
          </a:xfrm>
          <a:prstGeom prst="roundRect">
            <a:avLst>
              <a:gd fmla="val 8696" name="adj"/>
            </a:avLst>
          </a:prstGeom>
          <a:solidFill>
            <a:srgbClr val="6D28D9">
              <a:alpha val="14901"/>
            </a:srgbClr>
          </a:solidFill>
          <a:ln cap="flat" cmpd="sng" w="12700">
            <a:solidFill>
              <a:srgbClr val="6D28D9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Completed at least Level 2 of the Blockly Loop  Builder</a:t>
            </a:r>
            <a:endParaRPr b="1" sz="13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172200" y="3703320"/>
            <a:ext cx="2651760" cy="1051560"/>
          </a:xfrm>
          <a:prstGeom prst="roundRect">
            <a:avLst>
              <a:gd fmla="val 8696" name="adj"/>
            </a:avLst>
          </a:prstGeom>
          <a:solidFill>
            <a:srgbClr val="6D28D9">
              <a:alpha val="14901"/>
            </a:srgbClr>
          </a:solidFill>
          <a:ln cap="flat" cmpd="sng" w="12700">
            <a:solidFill>
              <a:srgbClr val="6D28D9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Wrote a loop in their journal using “repeat—-- times”</a:t>
            </a:r>
            <a:endParaRPr b="1" sz="13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1" sz="13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