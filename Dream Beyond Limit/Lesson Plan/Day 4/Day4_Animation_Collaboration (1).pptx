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Playfair Display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5" Type="http://schemas.openxmlformats.org/officeDocument/2006/relationships/slide" Target="slides/slide1.xml"/><Relationship Id="rId19" Type="http://schemas.openxmlformats.org/officeDocument/2006/relationships/font" Target="fonts/PlayfairDisplay-boldItalic.fntdata"/><Relationship Id="rId6" Type="http://schemas.openxmlformats.org/officeDocument/2006/relationships/slide" Target="slides/slide2.xml"/><Relationship Id="rId18" Type="http://schemas.openxmlformats.org/officeDocument/2006/relationships/font" Target="fonts/PlayfairDispl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d9b720068_2_6:notes"/>
          <p:cNvSpPr/>
          <p:nvPr>
            <p:ph idx="2" type="sldImg"/>
          </p:nvPr>
        </p:nvSpPr>
        <p:spPr>
          <a:xfrm>
            <a:off x="9144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d9b720068_2_6:notes"/>
          <p:cNvSpPr txBox="1"/>
          <p:nvPr>
            <p:ph idx="1" type="body"/>
          </p:nvPr>
        </p:nvSpPr>
        <p:spPr>
          <a:xfrm>
            <a:off x="914400" y="5867400"/>
            <a:ext cx="73152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d9b720068_2_6:notes"/>
          <p:cNvSpPr txBox="1"/>
          <p:nvPr>
            <p:ph idx="12" type="sldNum"/>
          </p:nvPr>
        </p:nvSpPr>
        <p:spPr>
          <a:xfrm>
            <a:off x="5179484" y="11580284"/>
            <a:ext cx="39624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ed9b720068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ed9b720068_2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ed9b720068_2_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9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5.png"/><Relationship Id="rId6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38700" cy="68580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78087" y="670550"/>
            <a:ext cx="1920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18CF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CODING CLUBHOUSE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78097" y="1341125"/>
            <a:ext cx="109119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Calibri"/>
              <a:buNone/>
            </a:pPr>
            <a:r>
              <a:rPr b="1" lang="en-US" sz="5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Animation</a:t>
            </a:r>
            <a:endParaRPr b="1" sz="53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Calibri"/>
              <a:buNone/>
            </a:pPr>
            <a:r>
              <a:rPr lang="en-US" sz="2600">
                <a:solidFill>
                  <a:srgbClr val="FAF7F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and</a:t>
            </a:r>
            <a:endParaRPr sz="2600">
              <a:solidFill>
                <a:srgbClr val="FAF7F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Calibri"/>
              <a:buNone/>
            </a:pPr>
            <a:r>
              <a:rPr b="1" lang="en-US" sz="5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Collaboration</a:t>
            </a:r>
            <a:endParaRPr b="1" sz="53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78090" y="4023350"/>
            <a:ext cx="1285800" cy="548700"/>
          </a:xfrm>
          <a:prstGeom prst="roundRect">
            <a:avLst>
              <a:gd fmla="val 26667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AF7F2"/>
                </a:solidFill>
              </a:rPr>
              <a:t>DAY 4</a:t>
            </a:r>
            <a:endParaRPr>
              <a:solidFill>
                <a:srgbClr val="FAF7F2"/>
              </a:solidFill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" name="Google Shape;21;p3" title="WhatsApp Image 2026-06-17 at 22.30.55.jpeg"/>
          <p:cNvPicPr preferRelativeResize="0"/>
          <p:nvPr/>
        </p:nvPicPr>
        <p:blipFill rotWithShape="1">
          <a:blip r:embed="rId3">
            <a:alphaModFix/>
          </a:blip>
          <a:srcRect b="4701" l="2221" r="8221" t="2758"/>
          <a:stretch/>
        </p:blipFill>
        <p:spPr>
          <a:xfrm>
            <a:off x="7036775" y="969500"/>
            <a:ext cx="4599075" cy="416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/>
        </p:nvSpPr>
        <p:spPr>
          <a:xfrm>
            <a:off x="423328" y="4967100"/>
            <a:ext cx="1920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lt1"/>
                </a:solidFill>
              </a:rPr>
              <a:t>DREAM BEYOND LIMITS</a:t>
            </a:r>
            <a:endParaRPr b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640080" y="502920"/>
            <a:ext cx="1828800" cy="384048"/>
          </a:xfrm>
          <a:prstGeom prst="roundRect">
            <a:avLst>
              <a:gd fmla="val 5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640080" y="50292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RECAP · DAY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Let's Remember Conditionals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40080" y="1965960"/>
            <a:ext cx="5029200" cy="1737360"/>
          </a:xfrm>
          <a:prstGeom prst="roundRect">
            <a:avLst>
              <a:gd fmla="val 6316" name="adj"/>
            </a:avLst>
          </a:prstGeom>
          <a:solidFill>
            <a:srgbClr val="FAF7F2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IF  →  THEN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868680" y="265176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A conditional checks something first.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TRUE → the action happens.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FALSE → the action skips.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943600" y="1965960"/>
            <a:ext cx="5577840" cy="1737360"/>
          </a:xfrm>
          <a:prstGeom prst="roundRect">
            <a:avLst>
              <a:gd fmla="val 6316" name="adj"/>
            </a:avLst>
          </a:prstGeom>
          <a:solidFill>
            <a:srgbClr val="6D28D9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172200" y="213055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ENERGISER: "If I'm a..."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172200" y="2560320"/>
            <a:ext cx="51206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I'm a cat → I pounce.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I'm a robot → I spin.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If I'm a lion → I roar.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822960" y="4160520"/>
            <a:ext cx="3291840" cy="1371600"/>
          </a:xfrm>
          <a:prstGeom prst="roundRect">
            <a:avLst>
              <a:gd fmla="val 6667" name="adj"/>
            </a:avLst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1051560" y="443484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6726" y="462000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2011680" y="45720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Cat → Pounce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434840" y="4160520"/>
            <a:ext cx="3291900" cy="1371600"/>
          </a:xfrm>
          <a:prstGeom prst="roundRect">
            <a:avLst>
              <a:gd fmla="val 6667" name="adj"/>
            </a:avLst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4663440" y="443484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8606" y="462000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>
            <a:off x="5623560" y="45720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Robot → Spin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046720" y="4160520"/>
            <a:ext cx="3291840" cy="1371600"/>
          </a:xfrm>
          <a:prstGeom prst="roundRect">
            <a:avLst>
              <a:gd fmla="val 6667" name="adj"/>
            </a:avLst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275320" y="4434840"/>
            <a:ext cx="822960" cy="82296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0486" y="4620006"/>
            <a:ext cx="452628" cy="45262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9235440" y="4572000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Lion → Roar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640080" y="502920"/>
            <a:ext cx="1737360" cy="384048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0080" y="502920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MINI LESSON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0078" y="1005850"/>
            <a:ext cx="43152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What Is Animation?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40075" y="1737375"/>
            <a:ext cx="4053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Calibri"/>
              <a:buNone/>
            </a:pPr>
            <a:r>
              <a:rPr b="0" i="1" lang="en-US" sz="17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Animation is something changing over time.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2331720"/>
            <a:ext cx="3413760" cy="3017520"/>
          </a:xfrm>
          <a:prstGeom prst="roundRect">
            <a:avLst>
              <a:gd fmla="val 3030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822960" y="2468880"/>
            <a:ext cx="304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FRAME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777240" y="4846320"/>
            <a:ext cx="313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Standing still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10103" y="2331720"/>
            <a:ext cx="3413700" cy="3017400"/>
          </a:xfrm>
          <a:prstGeom prst="roundRect">
            <a:avLst>
              <a:gd fmla="val 3030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692983" y="2468880"/>
            <a:ext cx="304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FRAME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11040" y="4846320"/>
            <a:ext cx="313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Mid-movement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8363099" y="2331720"/>
            <a:ext cx="3413700" cy="3017400"/>
          </a:xfrm>
          <a:prstGeom prst="roundRect">
            <a:avLst>
              <a:gd fmla="val 3030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8545979" y="2468880"/>
            <a:ext cx="304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FRAME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244840" y="4846320"/>
            <a:ext cx="3139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New position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14400" y="3246120"/>
            <a:ext cx="1188720" cy="118872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862" y="3513582"/>
            <a:ext cx="653796" cy="6537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5994684" y="3611880"/>
            <a:ext cx="1188600" cy="11886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2146" y="3879342"/>
            <a:ext cx="653796" cy="6537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/>
          <p:nvPr/>
        </p:nvSpPr>
        <p:spPr>
          <a:xfrm>
            <a:off x="10313819" y="3154680"/>
            <a:ext cx="1188600" cy="11886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1281" y="3422142"/>
            <a:ext cx="653796" cy="6537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5" name="Google Shape;7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2302" y="3639312"/>
            <a:ext cx="4114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6" name="Google Shape;7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5241" y="363931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640080" y="553212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Nothing moves until something happens.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312E81"/>
              </a:buClr>
              <a:buSzPts val="1500"/>
              <a:buFont typeface="Calibri"/>
              <a:buChar char="•"/>
            </a:pPr>
            <a:r>
              <a:rPr b="0" i="0" lang="en-US" sz="15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A key press, a click, or a timer is an event.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640080" y="502920"/>
            <a:ext cx="1828800" cy="384048"/>
          </a:xfrm>
          <a:prstGeom prst="roundRect">
            <a:avLst>
              <a:gd fmla="val 5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40080" y="502920"/>
            <a:ext cx="1828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KEY CONCEPT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0075" y="1005850"/>
            <a:ext cx="5303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Animation = Events + Actions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88720" y="2286000"/>
            <a:ext cx="2926080" cy="2103120"/>
          </a:xfrm>
          <a:prstGeom prst="roundRect">
            <a:avLst>
              <a:gd fmla="val 5217" name="adj"/>
            </a:avLst>
          </a:prstGeom>
          <a:solidFill>
            <a:srgbClr val="FAF7F2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2194560" y="2560320"/>
            <a:ext cx="914400" cy="9144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0" y="27660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118872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188720" y="3977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Button pressed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3" name="Google Shape;9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65092" y="31363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6"/>
          <p:cNvSpPr/>
          <p:nvPr/>
        </p:nvSpPr>
        <p:spPr>
          <a:xfrm>
            <a:off x="4617720" y="2286000"/>
            <a:ext cx="2926200" cy="2103000"/>
          </a:xfrm>
          <a:prstGeom prst="roundRect">
            <a:avLst>
              <a:gd fmla="val 5217" name="adj"/>
            </a:avLst>
          </a:prstGeom>
          <a:solidFill>
            <a:srgbClr val="FAF7F2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5623560" y="2560320"/>
            <a:ext cx="914400" cy="9144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" name="Google Shape;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0" y="27660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6"/>
          <p:cNvSpPr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617720" y="3977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Code runs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4092" y="313639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6"/>
          <p:cNvSpPr/>
          <p:nvPr/>
        </p:nvSpPr>
        <p:spPr>
          <a:xfrm>
            <a:off x="8046720" y="2286000"/>
            <a:ext cx="2926080" cy="2103120"/>
          </a:xfrm>
          <a:prstGeom prst="roundRect">
            <a:avLst>
              <a:gd fmla="val 5217" name="adj"/>
            </a:avLst>
          </a:prstGeom>
          <a:solidFill>
            <a:srgbClr val="FAF7F2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9052560" y="2560320"/>
            <a:ext cx="914400" cy="9144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58300" y="276606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6"/>
          <p:cNvSpPr/>
          <p:nvPr/>
        </p:nvSpPr>
        <p:spPr>
          <a:xfrm>
            <a:off x="8046720" y="36118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RESULT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8046720" y="3977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Character moves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40080" y="470916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Nothing happens without an event.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One event can trigger many actions.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FAF7F2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This is how every animation works.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640080" y="4572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40080" y="4572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78" y="914400"/>
            <a:ext cx="3771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 Story Animator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78" y="1508750"/>
            <a:ext cx="33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Press a button. Watch your code come to life.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" y="2011680"/>
            <a:ext cx="1993500" cy="868800"/>
          </a:xfrm>
          <a:prstGeom prst="roundRect">
            <a:avLst>
              <a:gd fmla="val 10526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389888" y="2103120"/>
            <a:ext cx="493776" cy="493776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988" y="2214220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/>
          <p:nvPr/>
        </p:nvSpPr>
        <p:spPr>
          <a:xfrm>
            <a:off x="640080" y="2578608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2862072" y="2011680"/>
            <a:ext cx="1993392" cy="868680"/>
          </a:xfrm>
          <a:prstGeom prst="roundRect">
            <a:avLst>
              <a:gd fmla="val 10526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3611880" y="2103120"/>
            <a:ext cx="493776" cy="493776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" name="Google Shape;12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2980" y="2214220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2862072" y="2578608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Move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084064" y="2011680"/>
            <a:ext cx="1993392" cy="868680"/>
          </a:xfrm>
          <a:prstGeom prst="roundRect">
            <a:avLst>
              <a:gd fmla="val 10526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833872" y="2103120"/>
            <a:ext cx="493776" cy="493776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4972" y="2214220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7"/>
          <p:cNvSpPr/>
          <p:nvPr/>
        </p:nvSpPr>
        <p:spPr>
          <a:xfrm>
            <a:off x="5084064" y="2578608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Speak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306056" y="2011680"/>
            <a:ext cx="1993392" cy="868680"/>
          </a:xfrm>
          <a:prstGeom prst="roundRect">
            <a:avLst>
              <a:gd fmla="val 10526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055864" y="2103120"/>
            <a:ext cx="493776" cy="493776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1" name="Google Shape;13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66964" y="2214220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7"/>
          <p:cNvSpPr/>
          <p:nvPr/>
        </p:nvSpPr>
        <p:spPr>
          <a:xfrm>
            <a:off x="7306056" y="2578608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Look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9528048" y="2011680"/>
            <a:ext cx="1993392" cy="868680"/>
          </a:xfrm>
          <a:prstGeom prst="roundRect">
            <a:avLst>
              <a:gd fmla="val 10526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0277856" y="2103120"/>
            <a:ext cx="493776" cy="493776"/>
          </a:xfrm>
          <a:prstGeom prst="ellipse">
            <a:avLst/>
          </a:prstGeom>
          <a:solidFill>
            <a:srgbClr val="FAF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8956" y="2214220"/>
            <a:ext cx="271577" cy="271577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/>
          <p:nvPr/>
        </p:nvSpPr>
        <p:spPr>
          <a:xfrm>
            <a:off x="9528048" y="2578608"/>
            <a:ext cx="1993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Sound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40078" y="3682550"/>
            <a:ext cx="269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FOUR LEVELS, GROWING EACH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40080" y="4048306"/>
            <a:ext cx="2514600" cy="1280100"/>
          </a:xfrm>
          <a:prstGeom prst="roundRect">
            <a:avLst>
              <a:gd fmla="val 7143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623060" y="4212898"/>
            <a:ext cx="548700" cy="5487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623060" y="421289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31520" y="4871266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Move Left &amp; Right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3429000" y="4048306"/>
            <a:ext cx="2514600" cy="1280100"/>
          </a:xfrm>
          <a:prstGeom prst="roundRect">
            <a:avLst>
              <a:gd fmla="val 7143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411980" y="4212898"/>
            <a:ext cx="548700" cy="5487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4411980" y="421289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3520440" y="4871266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Add Speak &amp; Look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217920" y="4048306"/>
            <a:ext cx="2514600" cy="1280100"/>
          </a:xfrm>
          <a:prstGeom prst="roundRect">
            <a:avLst>
              <a:gd fmla="val 7143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200900" y="4212898"/>
            <a:ext cx="548700" cy="5487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200900" y="421289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309360" y="4871266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Add Scene Change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9006840" y="4048306"/>
            <a:ext cx="2514600" cy="1280100"/>
          </a:xfrm>
          <a:prstGeom prst="roundRect">
            <a:avLst>
              <a:gd fmla="val 7143" name="adj"/>
            </a:avLst>
          </a:prstGeom>
          <a:solidFill>
            <a:srgbClr val="FAF7F2"/>
          </a:solidFill>
          <a:ln cap="flat" cmpd="sng" w="19050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312E81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9989820" y="4212898"/>
            <a:ext cx="548700" cy="5487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9989820" y="4212898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9098280" y="4871266"/>
            <a:ext cx="2331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Free Mode!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5066301" y="5296475"/>
            <a:ext cx="2536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EXAMPLE: a finished team project</a:t>
            </a:r>
            <a:endParaRPr b="0" i="0" sz="1200" u="none" cap="none" strike="noStrike">
              <a:solidFill>
                <a:srgbClr val="312E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01742" y="5616585"/>
            <a:ext cx="9176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Each part is clearly labeled and laid out. Your Story Animator screen works the same way — labeled buttons and blocks, organized so anyone can follow along.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644652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1247120" y="6446520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8" title="WhatsApp Image 2026-06-17 at 22.30.55.jpeg"/>
          <p:cNvPicPr preferRelativeResize="0"/>
          <p:nvPr/>
        </p:nvPicPr>
        <p:blipFill rotWithShape="1">
          <a:blip r:embed="rId3">
            <a:alphaModFix/>
          </a:blip>
          <a:srcRect b="4347" l="1855" r="7647" t="4529"/>
          <a:stretch/>
        </p:blipFill>
        <p:spPr>
          <a:xfrm>
            <a:off x="3265725" y="1790074"/>
            <a:ext cx="5909574" cy="341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8"/>
          <p:cNvSpPr/>
          <p:nvPr/>
        </p:nvSpPr>
        <p:spPr>
          <a:xfrm>
            <a:off x="640080" y="457200"/>
            <a:ext cx="1554600" cy="365700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40080" y="4572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640080" y="9144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Blockly Story Animator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640080" y="4572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640080" y="4572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40078" y="914400"/>
            <a:ext cx="383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Build Your Character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640078" y="1508750"/>
            <a:ext cx="3748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Give your character a look, a voice, and a move.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303520" y="3566160"/>
            <a:ext cx="1554480" cy="1554480"/>
          </a:xfrm>
          <a:prstGeom prst="ellipse">
            <a:avLst/>
          </a:prstGeom>
          <a:solidFill>
            <a:srgbClr val="312E81"/>
          </a:solidFill>
          <a:ln>
            <a:noFill/>
          </a:ln>
          <a:effectLst>
            <a:outerShdw blurRad="101600" rotWithShape="0" algn="bl" dir="54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9" name="Google Shape;17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3931920"/>
            <a:ext cx="822960" cy="822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" name="Google Shape;180;p9"/>
          <p:cNvGrpSpPr/>
          <p:nvPr/>
        </p:nvGrpSpPr>
        <p:grpSpPr>
          <a:xfrm>
            <a:off x="1097280" y="3611880"/>
            <a:ext cx="3017520" cy="1371600"/>
            <a:chOff x="1097280" y="3611880"/>
            <a:chExt cx="3017520" cy="1371600"/>
          </a:xfrm>
        </p:grpSpPr>
        <p:sp>
          <p:nvSpPr>
            <p:cNvPr id="181" name="Google Shape;181;p9"/>
            <p:cNvSpPr/>
            <p:nvPr/>
          </p:nvSpPr>
          <p:spPr>
            <a:xfrm>
              <a:off x="1097280" y="3611880"/>
              <a:ext cx="3017520" cy="1371600"/>
            </a:xfrm>
            <a:prstGeom prst="roundRect">
              <a:avLst>
                <a:gd fmla="val 6667" name="adj"/>
              </a:avLst>
            </a:prstGeom>
            <a:solidFill>
              <a:srgbClr val="FAF7F2"/>
            </a:solidFill>
            <a:ln cap="flat" cmpd="sng" w="1905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5400000" dist="25400">
                <a:srgbClr val="312E81">
                  <a:alpha val="1215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1325880" y="3886200"/>
              <a:ext cx="822960" cy="82296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83" name="Google Shape;1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11046" y="4071366"/>
              <a:ext cx="452628" cy="452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9"/>
            <p:cNvSpPr/>
            <p:nvPr/>
          </p:nvSpPr>
          <p:spPr>
            <a:xfrm>
              <a:off x="2286000" y="384048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Costume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9"/>
            <p:cNvSpPr/>
            <p:nvPr/>
          </p:nvSpPr>
          <p:spPr>
            <a:xfrm>
              <a:off x="2286000" y="425196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Pick a look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9"/>
          <p:cNvGrpSpPr/>
          <p:nvPr/>
        </p:nvGrpSpPr>
        <p:grpSpPr>
          <a:xfrm>
            <a:off x="4572000" y="1920240"/>
            <a:ext cx="3017400" cy="1371600"/>
            <a:chOff x="4572000" y="1920240"/>
            <a:chExt cx="3017400" cy="1371600"/>
          </a:xfrm>
        </p:grpSpPr>
        <p:sp>
          <p:nvSpPr>
            <p:cNvPr id="187" name="Google Shape;187;p9"/>
            <p:cNvSpPr/>
            <p:nvPr/>
          </p:nvSpPr>
          <p:spPr>
            <a:xfrm>
              <a:off x="4572000" y="1920240"/>
              <a:ext cx="3017400" cy="1371600"/>
            </a:xfrm>
            <a:prstGeom prst="roundRect">
              <a:avLst>
                <a:gd fmla="val 6667" name="adj"/>
              </a:avLst>
            </a:prstGeom>
            <a:solidFill>
              <a:srgbClr val="6D28D9"/>
            </a:solidFill>
            <a:ln cap="flat" cmpd="sng" w="1270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5400000" dist="25400">
                <a:srgbClr val="312E81">
                  <a:alpha val="1215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4800600" y="2194560"/>
              <a:ext cx="822960" cy="822960"/>
            </a:xfrm>
            <a:prstGeom prst="ellipse">
              <a:avLst/>
            </a:prstGeom>
            <a:solidFill>
              <a:srgbClr val="FAF7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89" name="Google Shape;189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985766" y="2379726"/>
              <a:ext cx="452628" cy="452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9"/>
            <p:cNvSpPr/>
            <p:nvPr/>
          </p:nvSpPr>
          <p:spPr>
            <a:xfrm>
              <a:off x="5760720" y="214884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Voice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5760720" y="256032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What they say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9"/>
          <p:cNvGrpSpPr/>
          <p:nvPr/>
        </p:nvGrpSpPr>
        <p:grpSpPr>
          <a:xfrm>
            <a:off x="8046720" y="3611880"/>
            <a:ext cx="3017520" cy="1371600"/>
            <a:chOff x="8046720" y="3611880"/>
            <a:chExt cx="3017520" cy="1371600"/>
          </a:xfrm>
        </p:grpSpPr>
        <p:sp>
          <p:nvSpPr>
            <p:cNvPr id="193" name="Google Shape;193;p9"/>
            <p:cNvSpPr/>
            <p:nvPr/>
          </p:nvSpPr>
          <p:spPr>
            <a:xfrm>
              <a:off x="8046720" y="3611880"/>
              <a:ext cx="3017520" cy="1371600"/>
            </a:xfrm>
            <a:prstGeom prst="roundRect">
              <a:avLst>
                <a:gd fmla="val 6667" name="adj"/>
              </a:avLst>
            </a:prstGeom>
            <a:solidFill>
              <a:srgbClr val="FAF7F2"/>
            </a:solidFill>
            <a:ln cap="flat" cmpd="sng" w="19050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6200" rotWithShape="0" algn="bl" dir="5400000" dist="25400">
                <a:srgbClr val="312E81">
                  <a:alpha val="1215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8275320" y="3886200"/>
              <a:ext cx="822960" cy="82296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195" name="Google Shape;19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460486" y="4071366"/>
              <a:ext cx="452628" cy="4526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9"/>
            <p:cNvSpPr/>
            <p:nvPr/>
          </p:nvSpPr>
          <p:spPr>
            <a:xfrm>
              <a:off x="9235440" y="384048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500"/>
                <a:buFont typeface="Calibri"/>
                <a:buNone/>
              </a:pPr>
              <a:r>
                <a:rPr b="1" i="0" lang="en-US" sz="15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Movement</a:t>
              </a:r>
              <a:endPara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9235440" y="4251960"/>
              <a:ext cx="1645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How they move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9"/>
          <p:cNvSpPr/>
          <p:nvPr/>
        </p:nvSpPr>
        <p:spPr>
          <a:xfrm>
            <a:off x="640080" y="553212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Choose a costume that fits your story.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Decide what your character says and when.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Pick movements that show personality.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640080" y="457200"/>
            <a:ext cx="1737360" cy="365760"/>
          </a:xfrm>
          <a:prstGeom prst="roundRect">
            <a:avLst>
              <a:gd fmla="val 5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40080" y="457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640080" y="91440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Character Change Challenge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4008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Every great story changes its character.</a:t>
            </a:r>
            <a:endParaRPr b="0" i="0" sz="1400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p10"/>
          <p:cNvGrpSpPr/>
          <p:nvPr/>
        </p:nvGrpSpPr>
        <p:grpSpPr>
          <a:xfrm>
            <a:off x="822960" y="2148840"/>
            <a:ext cx="4023360" cy="2834640"/>
            <a:chOff x="822960" y="2148840"/>
            <a:chExt cx="4023360" cy="2834640"/>
          </a:xfrm>
        </p:grpSpPr>
        <p:sp>
          <p:nvSpPr>
            <p:cNvPr id="211" name="Google Shape;211;p10"/>
            <p:cNvSpPr/>
            <p:nvPr/>
          </p:nvSpPr>
          <p:spPr>
            <a:xfrm>
              <a:off x="822960" y="2148840"/>
              <a:ext cx="4023360" cy="2834640"/>
            </a:xfrm>
            <a:prstGeom prst="roundRect">
              <a:avLst>
                <a:gd fmla="val 3871" name="adj"/>
              </a:avLst>
            </a:prstGeom>
            <a:solidFill>
              <a:srgbClr val="FAF7F2"/>
            </a:solidFill>
            <a:ln>
              <a:noFill/>
            </a:ln>
            <a:effectLst>
              <a:outerShdw blurRad="101600" rotWithShape="0" algn="bl" dir="54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1051560" y="2331720"/>
              <a:ext cx="35661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START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2240280" y="2834640"/>
              <a:ext cx="1188720" cy="118872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14" name="Google Shape;21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507742" y="3102102"/>
              <a:ext cx="653796" cy="6537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10"/>
            <p:cNvSpPr/>
            <p:nvPr/>
          </p:nvSpPr>
          <p:spPr>
            <a:xfrm>
              <a:off x="1051560" y="4206240"/>
              <a:ext cx="356616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What does your character look like at the start?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0"/>
          <p:cNvGrpSpPr/>
          <p:nvPr/>
        </p:nvGrpSpPr>
        <p:grpSpPr>
          <a:xfrm>
            <a:off x="7315200" y="2148840"/>
            <a:ext cx="4023360" cy="2834640"/>
            <a:chOff x="7315200" y="2148840"/>
            <a:chExt cx="4023360" cy="2834640"/>
          </a:xfrm>
        </p:grpSpPr>
        <p:sp>
          <p:nvSpPr>
            <p:cNvPr id="217" name="Google Shape;217;p10"/>
            <p:cNvSpPr/>
            <p:nvPr/>
          </p:nvSpPr>
          <p:spPr>
            <a:xfrm>
              <a:off x="7315200" y="2148840"/>
              <a:ext cx="4023360" cy="2834640"/>
            </a:xfrm>
            <a:prstGeom prst="roundRect">
              <a:avLst>
                <a:gd fmla="val 3871" name="adj"/>
              </a:avLst>
            </a:prstGeom>
            <a:solidFill>
              <a:srgbClr val="FAF7F2"/>
            </a:solidFill>
            <a:ln>
              <a:noFill/>
            </a:ln>
            <a:effectLst>
              <a:outerShdw blurRad="101600" rotWithShape="0" algn="bl" dir="54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7543800" y="2331720"/>
              <a:ext cx="356616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END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8732520" y="2834640"/>
              <a:ext cx="1188720" cy="1188720"/>
            </a:xfrm>
            <a:prstGeom prst="ellipse">
              <a:avLst/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20" name="Google Shape;22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99982" y="3102102"/>
              <a:ext cx="653796" cy="65379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1" name="Google Shape;221;p10"/>
            <p:cNvSpPr/>
            <p:nvPr/>
          </p:nvSpPr>
          <p:spPr>
            <a:xfrm>
              <a:off x="7543800" y="4206240"/>
              <a:ext cx="356616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What does your character look like at the end?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10"/>
          <p:cNvSpPr/>
          <p:nvPr/>
        </p:nvSpPr>
        <p:spPr>
          <a:xfrm>
            <a:off x="5623560" y="3108960"/>
            <a:ext cx="914400" cy="9144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9300" y="33147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0"/>
          <p:cNvSpPr/>
          <p:nvPr/>
        </p:nvSpPr>
        <p:spPr>
          <a:xfrm>
            <a:off x="5394960" y="406908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EVENT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Talk with your team: what event causes your character to change?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alibri"/>
              <a:buNone/>
            </a:pPr>
            <a:r>
              <a:rPr b="1" lang="en-US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That event becomes the button that triggers it in your animation.</a:t>
            </a:r>
            <a:endParaRPr b="1" u="none" cap="none" strike="noStrike">
              <a:solidFill>
                <a:srgbClr val="FAF7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"/>
          <p:cNvSpPr/>
          <p:nvPr/>
        </p:nvSpPr>
        <p:spPr>
          <a:xfrm>
            <a:off x="640080" y="457200"/>
            <a:ext cx="1828800" cy="365760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TEAM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40078" y="914400"/>
            <a:ext cx="3413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Storyboard Planning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640076" y="1508750"/>
            <a:ext cx="35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1" i="1" lang="en-US" sz="14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Plan your story across 3 panels with your team.</a:t>
            </a:r>
            <a:endParaRPr b="1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11"/>
          <p:cNvGrpSpPr/>
          <p:nvPr/>
        </p:nvGrpSpPr>
        <p:grpSpPr>
          <a:xfrm>
            <a:off x="776151" y="2103120"/>
            <a:ext cx="3778601" cy="3200400"/>
            <a:chOff x="776151" y="2103120"/>
            <a:chExt cx="3778601" cy="3200400"/>
          </a:xfrm>
        </p:grpSpPr>
        <p:sp>
          <p:nvSpPr>
            <p:cNvPr id="239" name="Google Shape;239;p11"/>
            <p:cNvSpPr/>
            <p:nvPr/>
          </p:nvSpPr>
          <p:spPr>
            <a:xfrm>
              <a:off x="776151" y="2103120"/>
              <a:ext cx="3413700" cy="3200400"/>
            </a:xfrm>
            <a:prstGeom prst="roundRect">
              <a:avLst>
                <a:gd fmla="val 3429" name="adj"/>
              </a:avLst>
            </a:prstGeom>
            <a:solidFill>
              <a:srgbClr val="FAF7F2"/>
            </a:solidFill>
            <a:ln cap="flat" cmpd="sng" w="22225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5400000" dist="38100">
                <a:srgbClr val="312E81">
                  <a:alpha val="14901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959031" y="2267712"/>
              <a:ext cx="30480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BEGINNING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1980111" y="2880360"/>
              <a:ext cx="1005900" cy="100590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42" name="Google Shape;242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206425" y="3106674"/>
              <a:ext cx="553212" cy="55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3" name="Google Shape;243;p11"/>
            <p:cNvSpPr/>
            <p:nvPr/>
          </p:nvSpPr>
          <p:spPr>
            <a:xfrm>
              <a:off x="959031" y="4114800"/>
              <a:ext cx="30480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Setting &amp; character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959031" y="4800600"/>
              <a:ext cx="3048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6D28D9"/>
                  </a:solidFill>
                  <a:latin typeface="Calibri"/>
                  <a:ea typeface="Calibri"/>
                  <a:cs typeface="Calibri"/>
                  <a:sym typeface="Calibri"/>
                </a:rPr>
                <a:t>+ caption + event label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eencoded.png" id="245" name="Google Shape;245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43272" y="3502152"/>
              <a:ext cx="411480" cy="4114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11"/>
          <p:cNvSpPr/>
          <p:nvPr/>
        </p:nvSpPr>
        <p:spPr>
          <a:xfrm>
            <a:off x="4526960" y="2103120"/>
            <a:ext cx="3413700" cy="3200400"/>
          </a:xfrm>
          <a:prstGeom prst="roundRect">
            <a:avLst>
              <a:gd fmla="val 3429" name="adj"/>
            </a:avLst>
          </a:prstGeom>
          <a:solidFill>
            <a:srgbClr val="FAF7F2"/>
          </a:solidFill>
          <a:ln cap="flat" cmpd="sng" w="22225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12E81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4709840" y="2267712"/>
            <a:ext cx="304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MIDDLE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5730920" y="2880360"/>
            <a:ext cx="1005900" cy="1005900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57234" y="31066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/>
          <p:nvPr/>
        </p:nvSpPr>
        <p:spPr>
          <a:xfrm>
            <a:off x="4709840" y="4114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What event happens?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4709840" y="4800600"/>
            <a:ext cx="304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+ caption + event 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2" name="Google Shape;25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45107" y="350215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1"/>
          <p:cNvSpPr/>
          <p:nvPr/>
        </p:nvSpPr>
        <p:spPr>
          <a:xfrm>
            <a:off x="8328796" y="2103120"/>
            <a:ext cx="3413700" cy="3200400"/>
          </a:xfrm>
          <a:prstGeom prst="roundRect">
            <a:avLst>
              <a:gd fmla="val 3429" name="adj"/>
            </a:avLst>
          </a:prstGeom>
          <a:solidFill>
            <a:srgbClr val="FAF7F2"/>
          </a:solidFill>
          <a:ln cap="flat" cmpd="sng" w="22225">
            <a:solidFill>
              <a:srgbClr val="312E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312E81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8511676" y="2267712"/>
            <a:ext cx="3048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9532756" y="2880360"/>
            <a:ext cx="1005900" cy="1005900"/>
          </a:xfrm>
          <a:prstGeom prst="ellipse">
            <a:avLst/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59070" y="3106674"/>
            <a:ext cx="553212" cy="55321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1"/>
          <p:cNvSpPr/>
          <p:nvPr/>
        </p:nvSpPr>
        <p:spPr>
          <a:xfrm>
            <a:off x="8511676" y="4114800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How does it end?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8290560" y="4800600"/>
            <a:ext cx="3048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+ caption + event label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640080" y="548640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Draw the setting, characters, and 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Write a caption for each panel.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312E81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Label the event that moves the story forward.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12E8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"/>
          <p:cNvSpPr/>
          <p:nvPr/>
        </p:nvSpPr>
        <p:spPr>
          <a:xfrm>
            <a:off x="640080" y="457200"/>
            <a:ext cx="1828800" cy="365760"/>
          </a:xfrm>
          <a:prstGeom prst="roundRect">
            <a:avLst>
              <a:gd fmla="val 50000" name="adj"/>
            </a:avLst>
          </a:prstGeom>
          <a:solidFill>
            <a:srgbClr val="6D28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40080" y="4572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TEAM PROJECT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40080" y="9144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Character Cutouts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640078" y="1508750"/>
            <a:ext cx="347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Bring your characters into the real world.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1" name="Google Shape;271;p12"/>
          <p:cNvGrpSpPr/>
          <p:nvPr/>
        </p:nvGrpSpPr>
        <p:grpSpPr>
          <a:xfrm>
            <a:off x="640080" y="2103120"/>
            <a:ext cx="4937760" cy="3291840"/>
            <a:chOff x="640080" y="2103120"/>
            <a:chExt cx="4937760" cy="3291840"/>
          </a:xfrm>
        </p:grpSpPr>
        <p:sp>
          <p:nvSpPr>
            <p:cNvPr id="272" name="Google Shape;272;p12"/>
            <p:cNvSpPr/>
            <p:nvPr/>
          </p:nvSpPr>
          <p:spPr>
            <a:xfrm>
              <a:off x="640080" y="2103120"/>
              <a:ext cx="4937760" cy="3291840"/>
            </a:xfrm>
            <a:prstGeom prst="roundRect">
              <a:avLst>
                <a:gd fmla="val 3333" name="adj"/>
              </a:avLst>
            </a:prstGeom>
            <a:solidFill>
              <a:srgbClr val="FAF7F2"/>
            </a:solidFill>
            <a:ln>
              <a:noFill/>
            </a:ln>
            <a:effectLst>
              <a:outerShdw blurRad="101600" rotWithShape="0" algn="bl" dir="54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2"/>
            <p:cNvSpPr/>
            <p:nvPr/>
          </p:nvSpPr>
          <p:spPr>
            <a:xfrm>
              <a:off x="914400" y="2377440"/>
              <a:ext cx="731520" cy="73152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74" name="Google Shape;27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78992" y="2542032"/>
              <a:ext cx="402336" cy="4023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12"/>
            <p:cNvSpPr/>
            <p:nvPr/>
          </p:nvSpPr>
          <p:spPr>
            <a:xfrm>
              <a:off x="1828800" y="2468880"/>
              <a:ext cx="356616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6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Your cutout should:</a:t>
              </a:r>
              <a:endPara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914400" y="3383280"/>
              <a:ext cx="4389120" cy="16459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Be recognizable as your character.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1000"/>
                </a:spcBef>
                <a:spcAft>
                  <a:spcPts val="0"/>
                </a:spcAft>
                <a:buClr>
                  <a:srgbClr val="312E8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Be large enough to hold and move.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342900" marR="0" rtl="0" algn="l">
                <a:spcBef>
                  <a:spcPts val="1000"/>
                </a:spcBef>
                <a:spcAft>
                  <a:spcPts val="0"/>
                </a:spcAft>
                <a:buClr>
                  <a:srgbClr val="312E81"/>
                </a:buClr>
                <a:buSzPts val="1400"/>
                <a:buFont typeface="Calibri"/>
                <a:buChar char="•"/>
              </a:pPr>
              <a:r>
                <a:rPr b="0" i="0" lang="en-US" sz="14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Have its name written on the back.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2"/>
          <p:cNvGrpSpPr/>
          <p:nvPr/>
        </p:nvGrpSpPr>
        <p:grpSpPr>
          <a:xfrm>
            <a:off x="5943600" y="2103120"/>
            <a:ext cx="5577840" cy="3291840"/>
            <a:chOff x="5943600" y="2103120"/>
            <a:chExt cx="5577840" cy="3291840"/>
          </a:xfrm>
        </p:grpSpPr>
        <p:sp>
          <p:nvSpPr>
            <p:cNvPr id="278" name="Google Shape;278;p12"/>
            <p:cNvSpPr/>
            <p:nvPr/>
          </p:nvSpPr>
          <p:spPr>
            <a:xfrm>
              <a:off x="5943600" y="2103120"/>
              <a:ext cx="5577840" cy="3291840"/>
            </a:xfrm>
            <a:prstGeom prst="roundRect">
              <a:avLst>
                <a:gd fmla="val 3333" name="adj"/>
              </a:avLst>
            </a:prstGeom>
            <a:solidFill>
              <a:srgbClr val="6D28D9"/>
            </a:solidFill>
            <a:ln>
              <a:noFill/>
            </a:ln>
            <a:effectLst>
              <a:outerShdw blurRad="101600" rotWithShape="0" algn="bl" dir="5400000" dist="38100">
                <a:srgbClr val="000000">
                  <a:alpha val="2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2"/>
            <p:cNvSpPr/>
            <p:nvPr/>
          </p:nvSpPr>
          <p:spPr>
            <a:xfrm>
              <a:off x="6217920" y="2331720"/>
              <a:ext cx="502920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200"/>
                <a:buFont typeface="Calibri"/>
                <a:buNone/>
              </a:pPr>
              <a:r>
                <a:rPr b="1" i="0" lang="en-US" sz="12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ON SHOWCASE DAY</a:t>
              </a:r>
              <a:endPara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2"/>
            <p:cNvSpPr/>
            <p:nvPr/>
          </p:nvSpPr>
          <p:spPr>
            <a:xfrm>
              <a:off x="7680960" y="3017520"/>
              <a:ext cx="914400" cy="914400"/>
            </a:xfrm>
            <a:prstGeom prst="ellipse">
              <a:avLst/>
            </a:prstGeom>
            <a:solidFill>
              <a:srgbClr val="FAF7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81" name="Google Shape;2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86700" y="3223260"/>
              <a:ext cx="502920" cy="5029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12"/>
            <p:cNvSpPr/>
            <p:nvPr/>
          </p:nvSpPr>
          <p:spPr>
            <a:xfrm>
              <a:off x="8869680" y="3017520"/>
              <a:ext cx="914400" cy="91440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283" name="Google Shape;28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075420" y="3223260"/>
              <a:ext cx="502920" cy="5029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12"/>
            <p:cNvSpPr/>
            <p:nvPr/>
          </p:nvSpPr>
          <p:spPr>
            <a:xfrm>
              <a:off x="6217920" y="4389120"/>
              <a:ext cx="5029200" cy="8229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One holds the panel. One moves the character. The story comes alive.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640080" y="457200"/>
            <a:ext cx="1554480" cy="365760"/>
          </a:xfrm>
          <a:prstGeom prst="roundRect">
            <a:avLst>
              <a:gd fmla="val 50000" name="adj"/>
            </a:avLst>
          </a:prstGeom>
          <a:solidFill>
            <a:srgbClr val="312E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>
            <a:off x="640080" y="45720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WRAP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640080" y="91440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Reflection &amp; Badge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640080" y="18288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THINK ABOUT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6" name="Google Shape;296;p13"/>
          <p:cNvGrpSpPr/>
          <p:nvPr/>
        </p:nvGrpSpPr>
        <p:grpSpPr>
          <a:xfrm>
            <a:off x="640080" y="2286000"/>
            <a:ext cx="5943600" cy="777240"/>
            <a:chOff x="640080" y="2286000"/>
            <a:chExt cx="5943600" cy="777240"/>
          </a:xfrm>
        </p:grpSpPr>
        <p:sp>
          <p:nvSpPr>
            <p:cNvPr id="297" name="Google Shape;297;p13"/>
            <p:cNvSpPr/>
            <p:nvPr/>
          </p:nvSpPr>
          <p:spPr>
            <a:xfrm>
              <a:off x="640080" y="2286000"/>
              <a:ext cx="594360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5875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804672" y="2432304"/>
              <a:ext cx="502920" cy="50292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463040" y="2286000"/>
              <a:ext cx="49377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Where does your character start, and end?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13"/>
          <p:cNvGrpSpPr/>
          <p:nvPr/>
        </p:nvGrpSpPr>
        <p:grpSpPr>
          <a:xfrm>
            <a:off x="640080" y="3200400"/>
            <a:ext cx="5943600" cy="777240"/>
            <a:chOff x="640080" y="3200400"/>
            <a:chExt cx="5943600" cy="777240"/>
          </a:xfrm>
        </p:grpSpPr>
        <p:sp>
          <p:nvSpPr>
            <p:cNvPr id="301" name="Google Shape;301;p13"/>
            <p:cNvSpPr/>
            <p:nvPr/>
          </p:nvSpPr>
          <p:spPr>
            <a:xfrm>
              <a:off x="640080" y="3200400"/>
              <a:ext cx="594360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5875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804672" y="3346704"/>
              <a:ext cx="502920" cy="50292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1463040" y="3200400"/>
              <a:ext cx="49377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What event changes everything in your story?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" name="Google Shape;304;p13"/>
          <p:cNvGrpSpPr/>
          <p:nvPr/>
        </p:nvGrpSpPr>
        <p:grpSpPr>
          <a:xfrm>
            <a:off x="640080" y="4114800"/>
            <a:ext cx="5943600" cy="777240"/>
            <a:chOff x="640080" y="4114800"/>
            <a:chExt cx="5943600" cy="777240"/>
          </a:xfrm>
        </p:grpSpPr>
        <p:sp>
          <p:nvSpPr>
            <p:cNvPr id="305" name="Google Shape;305;p13"/>
            <p:cNvSpPr/>
            <p:nvPr/>
          </p:nvSpPr>
          <p:spPr>
            <a:xfrm>
              <a:off x="640080" y="4114800"/>
              <a:ext cx="5943600" cy="777240"/>
            </a:xfrm>
            <a:prstGeom prst="roundRect">
              <a:avLst>
                <a:gd fmla="val 11765" name="adj"/>
              </a:avLst>
            </a:prstGeom>
            <a:solidFill>
              <a:srgbClr val="FAF7F2"/>
            </a:solidFill>
            <a:ln cap="flat" cmpd="sng" w="15875">
              <a:solidFill>
                <a:srgbClr val="312E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804672" y="4261104"/>
              <a:ext cx="502800" cy="502800"/>
            </a:xfrm>
            <a:prstGeom prst="ellipse">
              <a:avLst/>
            </a:prstGeom>
            <a:solidFill>
              <a:srgbClr val="312E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1463040" y="4114800"/>
              <a:ext cx="4937760" cy="777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12E8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312E81"/>
                  </a:solidFill>
                  <a:latin typeface="Calibri"/>
                  <a:ea typeface="Calibri"/>
                  <a:cs typeface="Calibri"/>
                  <a:sym typeface="Calibri"/>
                </a:rPr>
                <a:t>How did your team work together today?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3"/>
          <p:cNvGrpSpPr/>
          <p:nvPr/>
        </p:nvGrpSpPr>
        <p:grpSpPr>
          <a:xfrm>
            <a:off x="6949440" y="1828800"/>
            <a:ext cx="4572000" cy="3063300"/>
            <a:chOff x="6949440" y="1828800"/>
            <a:chExt cx="4572000" cy="3063300"/>
          </a:xfrm>
        </p:grpSpPr>
        <p:sp>
          <p:nvSpPr>
            <p:cNvPr id="309" name="Google Shape;309;p13"/>
            <p:cNvSpPr/>
            <p:nvPr/>
          </p:nvSpPr>
          <p:spPr>
            <a:xfrm>
              <a:off x="6949440" y="1828800"/>
              <a:ext cx="4572000" cy="3063300"/>
            </a:xfrm>
            <a:prstGeom prst="roundRect">
              <a:avLst>
                <a:gd fmla="val 3582" name="adj"/>
              </a:avLst>
            </a:prstGeom>
            <a:solidFill>
              <a:srgbClr val="312E81"/>
            </a:solidFill>
            <a:ln>
              <a:noFill/>
            </a:ln>
            <a:effectLst>
              <a:outerShdw blurRad="101600" rotWithShape="0" algn="bl" dir="5400000" dist="38100">
                <a:srgbClr val="000000">
                  <a:alpha val="18039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223760" y="1993392"/>
              <a:ext cx="40233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BADGE OF THE DAY</a:t>
              </a:r>
              <a:endParaRPr b="0" i="0" sz="110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1" name="Google Shape;311;p13"/>
          <p:cNvGrpSpPr/>
          <p:nvPr/>
        </p:nvGrpSpPr>
        <p:grpSpPr>
          <a:xfrm>
            <a:off x="7132320" y="2331720"/>
            <a:ext cx="4206240" cy="1417320"/>
            <a:chOff x="7132320" y="2331720"/>
            <a:chExt cx="4206240" cy="1417320"/>
          </a:xfrm>
        </p:grpSpPr>
        <p:sp>
          <p:nvSpPr>
            <p:cNvPr id="312" name="Google Shape;312;p13"/>
            <p:cNvSpPr/>
            <p:nvPr/>
          </p:nvSpPr>
          <p:spPr>
            <a:xfrm>
              <a:off x="8732520" y="2331720"/>
              <a:ext cx="1005840" cy="1005840"/>
            </a:xfrm>
            <a:prstGeom prst="ellipse">
              <a:avLst/>
            </a:prstGeom>
            <a:solidFill>
              <a:srgbClr val="6D28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preencoded.png" id="313" name="Google Shape;31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958834" y="2558034"/>
              <a:ext cx="553212" cy="5532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4" name="Google Shape;314;p13"/>
            <p:cNvSpPr/>
            <p:nvPr/>
          </p:nvSpPr>
          <p:spPr>
            <a:xfrm>
              <a:off x="7132320" y="3383280"/>
              <a:ext cx="4206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AF7F2"/>
                </a:buClr>
                <a:buSzPts val="1800"/>
                <a:buFont typeface="Calibri"/>
                <a:buNone/>
              </a:pPr>
              <a:r>
                <a:rPr b="1" i="0" lang="en-US" sz="1800" u="none" cap="none" strike="noStrike">
                  <a:solidFill>
                    <a:srgbClr val="FAF7F2"/>
                  </a:solidFill>
                  <a:latin typeface="Calibri"/>
                  <a:ea typeface="Calibri"/>
                  <a:cs typeface="Calibri"/>
                  <a:sym typeface="Calibri"/>
                </a:rPr>
                <a:t>Creative Coder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13"/>
          <p:cNvSpPr/>
          <p:nvPr/>
        </p:nvSpPr>
        <p:spPr>
          <a:xfrm>
            <a:off x="7223760" y="3794760"/>
            <a:ext cx="4023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AF7F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Completed Levels 1–2 of Story Animator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AF7F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Found the event that changes my character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AF7F2"/>
              </a:buClr>
              <a:buSzPts val="1050"/>
              <a:buFont typeface="Calibri"/>
              <a:buChar char="•"/>
            </a:pPr>
            <a:r>
              <a:rPr b="0" i="0" lang="en-US" sz="1050" u="none" cap="none" strike="noStrike">
                <a:solidFill>
                  <a:srgbClr val="FAF7F2"/>
                </a:solidFill>
                <a:latin typeface="Calibri"/>
                <a:ea typeface="Calibri"/>
                <a:cs typeface="Calibri"/>
                <a:sym typeface="Calibri"/>
              </a:rPr>
              <a:t>Started my storyboard &amp; character cutout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DAY 4  ·  ANIMATION &amp; COLLABORATION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12E8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12E8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