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si=CZwK8taqNz64iXy3&amp;v=p7_wNgf2rZk&amp;feature=youtu.be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46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7920" y="-1280160"/>
            <a:ext cx="5029200" cy="5029200"/>
          </a:xfrm>
          <a:prstGeom prst="ellipse">
            <a:avLst/>
          </a:prstGeom>
          <a:solidFill>
            <a:srgbClr val="5B3FA8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7B5FC4"/>
          </a:solidFill>
          <a:ln cap="flat" cmpd="sng" w="12700">
            <a:solidFill>
              <a:srgbClr val="7B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36576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02920" y="457200"/>
            <a:ext cx="1188720" cy="347472"/>
          </a:xfrm>
          <a:prstGeom prst="roundRect">
            <a:avLst>
              <a:gd fmla="val 65789" name="adj"/>
            </a:avLst>
          </a:prstGeom>
          <a:solidFill>
            <a:srgbClr val="5B3FA8"/>
          </a:solidFill>
          <a:ln cap="flat" cmpd="sng" w="12700">
            <a:solidFill>
              <a:srgbClr val="5B3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02920" y="45720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BBE8"/>
                </a:solidFill>
                <a:latin typeface="Arial"/>
                <a:ea typeface="Arial"/>
                <a:cs typeface="Arial"/>
                <a:sym typeface="Arial"/>
              </a:rPr>
              <a:t>DAY 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960120"/>
            <a:ext cx="6400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What Is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1783080"/>
            <a:ext cx="6400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rgbClr val="A78BFA"/>
                </a:solidFill>
                <a:latin typeface="Cambria"/>
                <a:ea typeface="Cambria"/>
                <a:cs typeface="Cambria"/>
                <a:sym typeface="Cambria"/>
              </a:rPr>
              <a:t>Coding?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30632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Giving instructions — clearly.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 rot="-5400604">
            <a:off x="-2461608" y="2462625"/>
            <a:ext cx="5119200" cy="193800"/>
          </a:xfrm>
          <a:prstGeom prst="rect">
            <a:avLst/>
          </a:prstGeom>
          <a:solidFill>
            <a:srgbClr val="AFA5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-35100" y="4838488"/>
            <a:ext cx="9214200" cy="338700"/>
          </a:xfrm>
          <a:prstGeom prst="rect">
            <a:avLst/>
          </a:prstGeom>
          <a:solidFill>
            <a:srgbClr val="AFA5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56618" y="4840207"/>
            <a:ext cx="178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2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CODING CLUBHOUSE</a:t>
            </a:r>
            <a:endParaRPr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7584579" y="4884201"/>
            <a:ext cx="161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DREAM BEYOND LIMITS</a:t>
            </a:r>
            <a:endParaRPr b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075" y="4834100"/>
            <a:ext cx="347456" cy="3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502920" y="3474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LEARNING GOALS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rPr>
              <a:t>By the end of today, you will…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" name="Google Shape;36;p4"/>
          <p:cNvGrpSpPr/>
          <p:nvPr/>
        </p:nvGrpSpPr>
        <p:grpSpPr>
          <a:xfrm>
            <a:off x="502920" y="1463040"/>
            <a:ext cx="8138160" cy="585216"/>
            <a:chOff x="502920" y="1463040"/>
            <a:chExt cx="8138160" cy="585216"/>
          </a:xfrm>
        </p:grpSpPr>
        <p:sp>
          <p:nvSpPr>
            <p:cNvPr id="37" name="Google Shape;37;p4"/>
            <p:cNvSpPr/>
            <p:nvPr/>
          </p:nvSpPr>
          <p:spPr>
            <a:xfrm>
              <a:off x="502920" y="1463040"/>
              <a:ext cx="8138160" cy="585216"/>
            </a:xfrm>
            <a:prstGeom prst="roundRect">
              <a:avLst>
                <a:gd fmla="val 23438" name="adj"/>
              </a:avLst>
            </a:prstGeom>
            <a:solidFill>
              <a:srgbClr val="F2ECE6"/>
            </a:solidFill>
            <a:ln cap="flat" cmpd="sng" w="12700">
              <a:solidFill>
                <a:srgbClr val="F2ECE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749808" y="1527048"/>
              <a:ext cx="457200" cy="457200"/>
            </a:xfrm>
            <a:prstGeom prst="ellipse">
              <a:avLst/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39" name="Google Shape;3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0392" y="1627632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Google Shape;40;p4"/>
            <p:cNvSpPr/>
            <p:nvPr/>
          </p:nvSpPr>
          <p:spPr>
            <a:xfrm>
              <a:off x="1417320" y="1554480"/>
              <a:ext cx="694944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D246C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D246C"/>
                  </a:solidFill>
                  <a:latin typeface="Arial"/>
                  <a:ea typeface="Arial"/>
                  <a:cs typeface="Arial"/>
                  <a:sym typeface="Arial"/>
                </a:rPr>
                <a:t>Define coding in your own words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502920" y="2157984"/>
            <a:ext cx="8138160" cy="585216"/>
            <a:chOff x="502920" y="2157984"/>
            <a:chExt cx="8138160" cy="585216"/>
          </a:xfrm>
        </p:grpSpPr>
        <p:sp>
          <p:nvSpPr>
            <p:cNvPr id="42" name="Google Shape;42;p4"/>
            <p:cNvSpPr/>
            <p:nvPr/>
          </p:nvSpPr>
          <p:spPr>
            <a:xfrm>
              <a:off x="502920" y="2157984"/>
              <a:ext cx="8138160" cy="585216"/>
            </a:xfrm>
            <a:prstGeom prst="roundRect">
              <a:avLst>
                <a:gd fmla="val 23438" name="adj"/>
              </a:avLst>
            </a:prstGeom>
            <a:solidFill>
              <a:srgbClr val="F2ECE6"/>
            </a:solidFill>
            <a:ln cap="flat" cmpd="sng" w="12700">
              <a:solidFill>
                <a:srgbClr val="F2ECE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49808" y="2221992"/>
              <a:ext cx="457200" cy="457200"/>
            </a:xfrm>
            <a:prstGeom prst="ellipse">
              <a:avLst/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4" name="Google Shape;4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0392" y="2322576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p4"/>
            <p:cNvSpPr/>
            <p:nvPr/>
          </p:nvSpPr>
          <p:spPr>
            <a:xfrm>
              <a:off x="1417320" y="2249424"/>
              <a:ext cx="694944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D246C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D246C"/>
                  </a:solidFill>
                  <a:latin typeface="Arial"/>
                  <a:ea typeface="Arial"/>
                  <a:cs typeface="Arial"/>
                  <a:sym typeface="Arial"/>
                </a:rPr>
                <a:t>Understand computers follow exact steps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4"/>
          <p:cNvGrpSpPr/>
          <p:nvPr/>
        </p:nvGrpSpPr>
        <p:grpSpPr>
          <a:xfrm>
            <a:off x="502920" y="2852928"/>
            <a:ext cx="8138160" cy="585216"/>
            <a:chOff x="502920" y="2852928"/>
            <a:chExt cx="8138160" cy="585216"/>
          </a:xfrm>
        </p:grpSpPr>
        <p:sp>
          <p:nvSpPr>
            <p:cNvPr id="47" name="Google Shape;47;p4"/>
            <p:cNvSpPr/>
            <p:nvPr/>
          </p:nvSpPr>
          <p:spPr>
            <a:xfrm>
              <a:off x="502920" y="2852928"/>
              <a:ext cx="8138160" cy="585216"/>
            </a:xfrm>
            <a:prstGeom prst="roundRect">
              <a:avLst>
                <a:gd fmla="val 23438" name="adj"/>
              </a:avLst>
            </a:prstGeom>
            <a:solidFill>
              <a:srgbClr val="F2ECE6"/>
            </a:solidFill>
            <a:ln cap="flat" cmpd="sng" w="12700">
              <a:solidFill>
                <a:srgbClr val="F2ECE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49808" y="2916936"/>
              <a:ext cx="457200" cy="457200"/>
            </a:xfrm>
            <a:prstGeom prst="ellipse">
              <a:avLst/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9" name="Google Shape;49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0392" y="3017520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4"/>
            <p:cNvSpPr/>
            <p:nvPr/>
          </p:nvSpPr>
          <p:spPr>
            <a:xfrm>
              <a:off x="1417320" y="2944368"/>
              <a:ext cx="694944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D246C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D246C"/>
                  </a:solidFill>
                  <a:latin typeface="Arial"/>
                  <a:ea typeface="Arial"/>
                  <a:cs typeface="Arial"/>
                  <a:sym typeface="Arial"/>
                </a:rPr>
                <a:t>Build an algorithm with LEGO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502920" y="3547872"/>
            <a:ext cx="8138160" cy="585216"/>
            <a:chOff x="502920" y="3547872"/>
            <a:chExt cx="8138160" cy="585216"/>
          </a:xfrm>
        </p:grpSpPr>
        <p:sp>
          <p:nvSpPr>
            <p:cNvPr id="52" name="Google Shape;52;p4"/>
            <p:cNvSpPr/>
            <p:nvPr/>
          </p:nvSpPr>
          <p:spPr>
            <a:xfrm>
              <a:off x="502920" y="3547872"/>
              <a:ext cx="8138160" cy="585216"/>
            </a:xfrm>
            <a:prstGeom prst="roundRect">
              <a:avLst>
                <a:gd fmla="val 23438" name="adj"/>
              </a:avLst>
            </a:prstGeom>
            <a:solidFill>
              <a:srgbClr val="F2ECE6"/>
            </a:solidFill>
            <a:ln cap="flat" cmpd="sng" w="12700">
              <a:solidFill>
                <a:srgbClr val="F2ECE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749808" y="3611880"/>
              <a:ext cx="457200" cy="457200"/>
            </a:xfrm>
            <a:prstGeom prst="ellipse">
              <a:avLst/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54" name="Google Shape;54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0392" y="3712464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55;p4"/>
            <p:cNvSpPr/>
            <p:nvPr/>
          </p:nvSpPr>
          <p:spPr>
            <a:xfrm>
              <a:off x="1417320" y="3639312"/>
              <a:ext cx="694944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D246C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D246C"/>
                  </a:solidFill>
                  <a:latin typeface="Arial"/>
                  <a:ea typeface="Arial"/>
                  <a:cs typeface="Arial"/>
                  <a:sym typeface="Arial"/>
                </a:rPr>
                <a:t>See why order matters in instructions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4"/>
          <p:cNvGrpSpPr/>
          <p:nvPr/>
        </p:nvGrpSpPr>
        <p:grpSpPr>
          <a:xfrm>
            <a:off x="502920" y="4242816"/>
            <a:ext cx="8138160" cy="585216"/>
            <a:chOff x="502920" y="4242816"/>
            <a:chExt cx="8138160" cy="585216"/>
          </a:xfrm>
        </p:grpSpPr>
        <p:sp>
          <p:nvSpPr>
            <p:cNvPr id="57" name="Google Shape;57;p4"/>
            <p:cNvSpPr/>
            <p:nvPr/>
          </p:nvSpPr>
          <p:spPr>
            <a:xfrm>
              <a:off x="502920" y="4242816"/>
              <a:ext cx="8138160" cy="585216"/>
            </a:xfrm>
            <a:prstGeom prst="roundRect">
              <a:avLst>
                <a:gd fmla="val 23438" name="adj"/>
              </a:avLst>
            </a:prstGeom>
            <a:solidFill>
              <a:srgbClr val="F2ECE6"/>
            </a:solidFill>
            <a:ln cap="flat" cmpd="sng" w="12700">
              <a:solidFill>
                <a:srgbClr val="F2ECE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49808" y="4306824"/>
              <a:ext cx="457200" cy="457200"/>
            </a:xfrm>
            <a:prstGeom prst="ellipse">
              <a:avLst/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59" name="Google Shape;59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0392" y="4407408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4"/>
            <p:cNvSpPr/>
            <p:nvPr/>
          </p:nvSpPr>
          <p:spPr>
            <a:xfrm>
              <a:off x="1417320" y="4334256"/>
              <a:ext cx="694944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D246C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3D246C"/>
                  </a:solidFill>
                  <a:latin typeface="Arial"/>
                  <a:ea typeface="Arial"/>
                  <a:cs typeface="Arial"/>
                  <a:sym typeface="Arial"/>
                </a:rPr>
                <a:t>Try real coding on Blockly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46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502920" y="3474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BBE8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621792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What is coding?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5"/>
          <p:cNvGrpSpPr/>
          <p:nvPr/>
        </p:nvGrpSpPr>
        <p:grpSpPr>
          <a:xfrm>
            <a:off x="502900" y="1600200"/>
            <a:ext cx="2651700" cy="1682400"/>
            <a:chOff x="502900" y="1600200"/>
            <a:chExt cx="2651700" cy="1682400"/>
          </a:xfrm>
        </p:grpSpPr>
        <p:sp>
          <p:nvSpPr>
            <p:cNvPr id="69" name="Google Shape;69;p5"/>
            <p:cNvSpPr/>
            <p:nvPr/>
          </p:nvSpPr>
          <p:spPr>
            <a:xfrm>
              <a:off x="502900" y="160020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5B3FA8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26437" y="1707342"/>
              <a:ext cx="457200" cy="457200"/>
            </a:xfrm>
            <a:prstGeom prst="ellipse">
              <a:avLst/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2ECE6"/>
                  </a:solidFill>
                </a:rPr>
                <a:t>1</a:t>
              </a:r>
              <a:endParaRPr b="1">
                <a:solidFill>
                  <a:srgbClr val="F2ECE6"/>
                </a:solidFill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67512" y="2331720"/>
              <a:ext cx="234086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mbria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mbria"/>
                  <a:ea typeface="Cambria"/>
                  <a:cs typeface="Cambria"/>
                  <a:sym typeface="Cambria"/>
                </a:rPr>
                <a:t>What do computers do?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5"/>
          <p:cNvGrpSpPr/>
          <p:nvPr/>
        </p:nvGrpSpPr>
        <p:grpSpPr>
          <a:xfrm>
            <a:off x="508499" y="3438050"/>
            <a:ext cx="2651700" cy="1682400"/>
            <a:chOff x="508499" y="3438050"/>
            <a:chExt cx="2651700" cy="1682400"/>
          </a:xfrm>
        </p:grpSpPr>
        <p:sp>
          <p:nvSpPr>
            <p:cNvPr id="73" name="Google Shape;73;p5"/>
            <p:cNvSpPr/>
            <p:nvPr/>
          </p:nvSpPr>
          <p:spPr>
            <a:xfrm>
              <a:off x="508499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576225" y="3684266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300"/>
                <a:buFont typeface="Arial"/>
                <a:buNone/>
              </a:pPr>
              <a:r>
                <a:rPr b="1" i="0" lang="en-US" u="none" cap="none" strike="noStrike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Play games, show videos, run apps…</a:t>
              </a:r>
              <a:endParaRPr b="1" i="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3383275" y="1600200"/>
            <a:ext cx="2651700" cy="1682400"/>
            <a:chOff x="3383275" y="1600200"/>
            <a:chExt cx="2651700" cy="1682400"/>
          </a:xfrm>
        </p:grpSpPr>
        <p:sp>
          <p:nvSpPr>
            <p:cNvPr id="76" name="Google Shape;76;p5"/>
            <p:cNvSpPr/>
            <p:nvPr/>
          </p:nvSpPr>
          <p:spPr>
            <a:xfrm>
              <a:off x="3383275" y="160020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5B3FA8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3547872" y="1764792"/>
              <a:ext cx="457200" cy="457200"/>
            </a:xfrm>
            <a:prstGeom prst="ellipse">
              <a:avLst/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2ECE6"/>
                  </a:solidFill>
                </a:rPr>
                <a:t>2</a:t>
              </a:r>
              <a:endParaRPr b="1">
                <a:solidFill>
                  <a:srgbClr val="F2ECE6"/>
                </a:solidFill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3547872" y="2331720"/>
              <a:ext cx="234086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mbria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mbria"/>
                  <a:ea typeface="Cambria"/>
                  <a:cs typeface="Cambria"/>
                  <a:sym typeface="Cambria"/>
                </a:rPr>
                <a:t>Do they think for themselves?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3387050" y="3438050"/>
            <a:ext cx="2651700" cy="1682400"/>
            <a:chOff x="3387050" y="3438050"/>
            <a:chExt cx="2651700" cy="1682400"/>
          </a:xfrm>
        </p:grpSpPr>
        <p:sp>
          <p:nvSpPr>
            <p:cNvPr id="80" name="Google Shape;80;p5"/>
            <p:cNvSpPr/>
            <p:nvPr/>
          </p:nvSpPr>
          <p:spPr>
            <a:xfrm>
              <a:off x="3387050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3520440" y="3786433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300"/>
                <a:buFont typeface="Arial"/>
                <a:buNone/>
              </a:pPr>
              <a:r>
                <a:rPr b="1" i="0" lang="en-US" u="none" cap="none" strike="noStrike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No! They only do what we tell them.</a:t>
              </a:r>
              <a:endParaRPr b="1" i="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82" name="Google Shape;82;p5"/>
          <p:cNvGrpSpPr/>
          <p:nvPr/>
        </p:nvGrpSpPr>
        <p:grpSpPr>
          <a:xfrm>
            <a:off x="6304706" y="1600200"/>
            <a:ext cx="2651700" cy="1682400"/>
            <a:chOff x="6263650" y="1600200"/>
            <a:chExt cx="2651700" cy="1682400"/>
          </a:xfrm>
        </p:grpSpPr>
        <p:sp>
          <p:nvSpPr>
            <p:cNvPr id="83" name="Google Shape;83;p5"/>
            <p:cNvSpPr/>
            <p:nvPr/>
          </p:nvSpPr>
          <p:spPr>
            <a:xfrm>
              <a:off x="6263650" y="160020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5B3FA8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428232" y="1764792"/>
              <a:ext cx="457200" cy="457200"/>
            </a:xfrm>
            <a:prstGeom prst="ellipse">
              <a:avLst/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2ECE6"/>
                  </a:solidFill>
                </a:rPr>
                <a:t>3</a:t>
              </a:r>
              <a:endParaRPr b="1">
                <a:solidFill>
                  <a:srgbClr val="F2ECE6"/>
                </a:solidFill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6428232" y="2331720"/>
              <a:ext cx="234086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mbria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mbria"/>
                  <a:ea typeface="Cambria"/>
                  <a:cs typeface="Cambria"/>
                  <a:sym typeface="Cambria"/>
                </a:rPr>
                <a:t>Who writes the instructions?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263717" y="3438050"/>
            <a:ext cx="2651700" cy="1682400"/>
            <a:chOff x="6263717" y="3438050"/>
            <a:chExt cx="2651700" cy="1682400"/>
          </a:xfrm>
        </p:grpSpPr>
        <p:sp>
          <p:nvSpPr>
            <p:cNvPr id="87" name="Google Shape;87;p5"/>
            <p:cNvSpPr/>
            <p:nvPr/>
          </p:nvSpPr>
          <p:spPr>
            <a:xfrm>
              <a:off x="6263717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477426" y="3722579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300"/>
                <a:buFont typeface="Arial"/>
                <a:buNone/>
              </a:pPr>
              <a:r>
                <a:rPr b="1" i="0" lang="en-US" u="none" cap="none" strike="noStrike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Humans do — and that's called coding.</a:t>
              </a:r>
              <a:endParaRPr b="1" i="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502920" y="3474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" y="621792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3600"/>
              <a:buFont typeface="Cambria"/>
              <a:buNone/>
            </a:pPr>
            <a:r>
              <a:rPr b="1" i="0" lang="en-US" sz="3600" u="sng" cap="none" strike="noStrike">
                <a:solidFill>
                  <a:srgbClr val="5B3FA8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Human Robot Game</a:t>
            </a:r>
            <a:endParaRPr b="0" i="0" sz="3600" u="none" cap="none" strike="noStrike">
              <a:solidFill>
                <a:srgbClr val="5B3F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6"/>
          <p:cNvGrpSpPr/>
          <p:nvPr/>
        </p:nvGrpSpPr>
        <p:grpSpPr>
          <a:xfrm>
            <a:off x="502920" y="1536192"/>
            <a:ext cx="4023360" cy="3291840"/>
            <a:chOff x="502920" y="1536192"/>
            <a:chExt cx="4023360" cy="3291840"/>
          </a:xfrm>
        </p:grpSpPr>
        <p:sp>
          <p:nvSpPr>
            <p:cNvPr id="97" name="Google Shape;97;p6"/>
            <p:cNvSpPr/>
            <p:nvPr/>
          </p:nvSpPr>
          <p:spPr>
            <a:xfrm>
              <a:off x="502920" y="1536192"/>
              <a:ext cx="4023360" cy="3291840"/>
            </a:xfrm>
            <a:prstGeom prst="roundRect">
              <a:avLst>
                <a:gd fmla="val 4167" name="adj"/>
              </a:avLst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1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85800" y="1719072"/>
              <a:ext cx="502920" cy="502920"/>
            </a:xfrm>
            <a:prstGeom prst="ellipse">
              <a:avLst/>
            </a:prstGeom>
            <a:solidFill>
              <a:srgbClr val="5B3FA8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99" name="Google Shape;9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96442" y="1829714"/>
              <a:ext cx="281635" cy="2816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6"/>
            <p:cNvSpPr/>
            <p:nvPr/>
          </p:nvSpPr>
          <p:spPr>
            <a:xfrm>
              <a:off x="1307592" y="1737360"/>
              <a:ext cx="30175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mbria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mbria"/>
                  <a:ea typeface="Cambria"/>
                  <a:cs typeface="Cambria"/>
                  <a:sym typeface="Cambria"/>
                </a:rPr>
                <a:t>Programmer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731520" y="2505456"/>
              <a:ext cx="292608" cy="292608"/>
            </a:xfrm>
            <a:prstGeom prst="ellipse">
              <a:avLst/>
            </a:prstGeom>
            <a:solidFill>
              <a:srgbClr val="A78BFA"/>
            </a:solidFill>
            <a:ln cap="flat" cmpd="sng" w="12700">
              <a:solidFill>
                <a:srgbClr val="A78B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1161288" y="2395728"/>
              <a:ext cx="3154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Gives step-by-step instructions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731520" y="3255264"/>
              <a:ext cx="292608" cy="292608"/>
            </a:xfrm>
            <a:prstGeom prst="ellipse">
              <a:avLst/>
            </a:prstGeom>
            <a:solidFill>
              <a:srgbClr val="A78BFA"/>
            </a:solidFill>
            <a:ln cap="flat" cmpd="sng" w="12700">
              <a:solidFill>
                <a:srgbClr val="A78B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1161288" y="3145536"/>
              <a:ext cx="3154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Be exact — no skipping steps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731520" y="4005072"/>
              <a:ext cx="292608" cy="292608"/>
            </a:xfrm>
            <a:prstGeom prst="ellipse">
              <a:avLst/>
            </a:prstGeom>
            <a:solidFill>
              <a:srgbClr val="A78BFA"/>
            </a:solidFill>
            <a:ln cap="flat" cmpd="sng" w="12700">
              <a:solidFill>
                <a:srgbClr val="A78B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1161288" y="3895344"/>
              <a:ext cx="3154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Say which colour brick and exactly where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6"/>
          <p:cNvGrpSpPr/>
          <p:nvPr/>
        </p:nvGrpSpPr>
        <p:grpSpPr>
          <a:xfrm>
            <a:off x="4818888" y="1536192"/>
            <a:ext cx="4023360" cy="3291840"/>
            <a:chOff x="4818888" y="1536192"/>
            <a:chExt cx="4023360" cy="3291840"/>
          </a:xfrm>
        </p:grpSpPr>
        <p:sp>
          <p:nvSpPr>
            <p:cNvPr id="108" name="Google Shape;108;p6"/>
            <p:cNvSpPr/>
            <p:nvPr/>
          </p:nvSpPr>
          <p:spPr>
            <a:xfrm>
              <a:off x="4818888" y="1536192"/>
              <a:ext cx="4023360" cy="3291840"/>
            </a:xfrm>
            <a:prstGeom prst="roundRect">
              <a:avLst>
                <a:gd fmla="val 4167" name="adj"/>
              </a:avLst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1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5001768" y="1719072"/>
              <a:ext cx="502920" cy="502920"/>
            </a:xfrm>
            <a:prstGeom prst="ellipse">
              <a:avLst/>
            </a:prstGeom>
            <a:solidFill>
              <a:srgbClr val="5B3FA8"/>
            </a:solidFill>
            <a:ln cap="flat" cmpd="sng" w="12700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10" name="Google Shape;110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12410" y="1829714"/>
              <a:ext cx="281635" cy="2816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6"/>
            <p:cNvSpPr/>
            <p:nvPr/>
          </p:nvSpPr>
          <p:spPr>
            <a:xfrm>
              <a:off x="5623560" y="1737360"/>
              <a:ext cx="30175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mbria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mbria"/>
                  <a:ea typeface="Cambria"/>
                  <a:cs typeface="Cambria"/>
                  <a:sym typeface="Cambria"/>
                </a:rPr>
                <a:t>Robot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5047488" y="2505456"/>
              <a:ext cx="292608" cy="292608"/>
            </a:xfrm>
            <a:prstGeom prst="ellipse">
              <a:avLst/>
            </a:prstGeom>
            <a:solidFill>
              <a:srgbClr val="A78BFA"/>
            </a:solidFill>
            <a:ln cap="flat" cmpd="sng" w="12700">
              <a:solidFill>
                <a:srgbClr val="A78B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5477256" y="2395728"/>
              <a:ext cx="3154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Follow instructions exactly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5047488" y="3255264"/>
              <a:ext cx="292608" cy="292608"/>
            </a:xfrm>
            <a:prstGeom prst="ellipse">
              <a:avLst/>
            </a:prstGeom>
            <a:solidFill>
              <a:srgbClr val="A78BFA"/>
            </a:solidFill>
            <a:ln cap="flat" cmpd="sng" w="12700">
              <a:solidFill>
                <a:srgbClr val="A78B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5477256" y="3145536"/>
              <a:ext cx="3154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No guessing allowed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5047488" y="4005072"/>
              <a:ext cx="292608" cy="292608"/>
            </a:xfrm>
            <a:prstGeom prst="ellipse">
              <a:avLst/>
            </a:prstGeom>
            <a:solidFill>
              <a:srgbClr val="A78BFA"/>
            </a:solidFill>
            <a:ln cap="flat" cmpd="sng" w="12700">
              <a:solidFill>
                <a:srgbClr val="A78B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477256" y="3895344"/>
              <a:ext cx="3154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Only do what you are told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6"/>
          <p:cNvGrpSpPr/>
          <p:nvPr/>
        </p:nvGrpSpPr>
        <p:grpSpPr>
          <a:xfrm>
            <a:off x="502920" y="4800600"/>
            <a:ext cx="8138160" cy="365760"/>
            <a:chOff x="502920" y="4800600"/>
            <a:chExt cx="8138160" cy="365760"/>
          </a:xfrm>
        </p:grpSpPr>
        <p:sp>
          <p:nvSpPr>
            <p:cNvPr id="119" name="Google Shape;119;p6"/>
            <p:cNvSpPr/>
            <p:nvPr/>
          </p:nvSpPr>
          <p:spPr>
            <a:xfrm>
              <a:off x="502920" y="4800600"/>
              <a:ext cx="8138160" cy="365760"/>
            </a:xfrm>
            <a:prstGeom prst="roundRect">
              <a:avLst>
                <a:gd fmla="val 25000" name="adj"/>
              </a:avLst>
            </a:prstGeom>
            <a:solidFill>
              <a:srgbClr val="F2ECE6"/>
            </a:solidFill>
            <a:ln cap="flat" cmpd="sng" w="12700">
              <a:solidFill>
                <a:srgbClr val="F2EC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685800" y="4818888"/>
              <a:ext cx="77724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D246C"/>
                </a:buClr>
                <a:buSzPts val="1300"/>
                <a:buFont typeface="Arial"/>
                <a:buNone/>
              </a:pPr>
              <a:r>
                <a:rPr b="1" i="1" lang="en-US" sz="1300" u="none" cap="none" strike="noStrike">
                  <a:solidFill>
                    <a:srgbClr val="3D246C"/>
                  </a:solidFill>
                  <a:latin typeface="Arial"/>
                  <a:ea typeface="Arial"/>
                  <a:cs typeface="Arial"/>
                  <a:sym typeface="Arial"/>
                </a:rPr>
                <a:t>What happens when the instructions aren't clear?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46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02920" y="3840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BBE8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" y="749808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A78BFA"/>
                </a:solidFill>
                <a:latin typeface="Cambria"/>
                <a:ea typeface="Cambria"/>
                <a:cs typeface="Cambria"/>
                <a:sym typeface="Cambria"/>
              </a:rPr>
              <a:t>Order</a:t>
            </a:r>
            <a:endParaRPr b="0" i="0" sz="8000" u="none" cap="none" strike="noStrike">
              <a:solidFill>
                <a:srgbClr val="A78B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02920" y="1700784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matters.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02920" y="3017520"/>
            <a:ext cx="3977640" cy="1691640"/>
          </a:xfrm>
          <a:prstGeom prst="roundRect">
            <a:avLst>
              <a:gd fmla="val 8108" name="adj"/>
            </a:avLst>
          </a:prstGeom>
          <a:solidFill>
            <a:srgbClr val="5B3FA8"/>
          </a:solidFill>
          <a:ln cap="flat" cmpd="sng" w="12700">
            <a:solidFill>
              <a:srgbClr val="4A1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67512" y="318211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Right order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67512" y="3703320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Computer does exactly what you want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754880" y="3017520"/>
            <a:ext cx="3977640" cy="1691640"/>
          </a:xfrm>
          <a:prstGeom prst="roundRect">
            <a:avLst>
              <a:gd fmla="val 8108" name="adj"/>
            </a:avLst>
          </a:prstGeom>
          <a:solidFill>
            <a:srgbClr val="4A1D6B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919472" y="318211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Wrong order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919472" y="3703320"/>
            <a:ext cx="3657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Computer gives you the wrong result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502920" y="34747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HANDS-ON CHALLENGE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02920" y="621792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rPr>
              <a:t>Stack It Like I Say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02920" y="1581912"/>
            <a:ext cx="502920" cy="502920"/>
          </a:xfrm>
          <a:prstGeom prst="ellipse">
            <a:avLst/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02920" y="1581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22376" y="2084832"/>
            <a:ext cx="73152" cy="310896"/>
          </a:xfrm>
          <a:prstGeom prst="rect">
            <a:avLst/>
          </a:prstGeom>
          <a:solidFill>
            <a:srgbClr val="C9BBE8"/>
          </a:solidFill>
          <a:ln cap="flat" cmpd="sng" w="12700">
            <a:solidFill>
              <a:srgbClr val="C9B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170432" y="1508760"/>
            <a:ext cx="7516368" cy="658368"/>
          </a:xfrm>
          <a:prstGeom prst="roundRect">
            <a:avLst>
              <a:gd fmla="val 20833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1417320" y="1618488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D246C"/>
                </a:solidFill>
                <a:latin typeface="Arial"/>
                <a:ea typeface="Arial"/>
                <a:cs typeface="Arial"/>
                <a:sym typeface="Arial"/>
              </a:rPr>
              <a:t>Partner A: secretly build a 4–5 brick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02920" y="2404872"/>
            <a:ext cx="502920" cy="502920"/>
          </a:xfrm>
          <a:prstGeom prst="ellipse">
            <a:avLst/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02920" y="2404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22376" y="2907792"/>
            <a:ext cx="73152" cy="310896"/>
          </a:xfrm>
          <a:prstGeom prst="rect">
            <a:avLst/>
          </a:prstGeom>
          <a:solidFill>
            <a:srgbClr val="C9BBE8"/>
          </a:solidFill>
          <a:ln cap="flat" cmpd="sng" w="12700">
            <a:solidFill>
              <a:srgbClr val="C9B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1170432" y="2331720"/>
            <a:ext cx="7516368" cy="658368"/>
          </a:xfrm>
          <a:prstGeom prst="roundRect">
            <a:avLst>
              <a:gd fmla="val 20833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417320" y="2441448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D246C"/>
                </a:solidFill>
                <a:latin typeface="Arial"/>
                <a:ea typeface="Arial"/>
                <a:cs typeface="Arial"/>
                <a:sym typeface="Arial"/>
              </a:rPr>
              <a:t>Partner A: describe it — colour, position, step by step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02920" y="3227832"/>
            <a:ext cx="502920" cy="502920"/>
          </a:xfrm>
          <a:prstGeom prst="ellipse">
            <a:avLst/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02920" y="3227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22376" y="3730752"/>
            <a:ext cx="73152" cy="310896"/>
          </a:xfrm>
          <a:prstGeom prst="rect">
            <a:avLst/>
          </a:prstGeom>
          <a:solidFill>
            <a:srgbClr val="C9BBE8"/>
          </a:solidFill>
          <a:ln cap="flat" cmpd="sng" w="12700">
            <a:solidFill>
              <a:srgbClr val="C9B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170432" y="3154680"/>
            <a:ext cx="7516368" cy="658368"/>
          </a:xfrm>
          <a:prstGeom prst="roundRect">
            <a:avLst>
              <a:gd fmla="val 20833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417320" y="3264408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D246C"/>
                </a:solidFill>
                <a:latin typeface="Arial"/>
                <a:ea typeface="Arial"/>
                <a:cs typeface="Arial"/>
                <a:sym typeface="Arial"/>
              </a:rPr>
              <a:t>Partner B: build from the instructions only. No peeking!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02920" y="4050792"/>
            <a:ext cx="502920" cy="502920"/>
          </a:xfrm>
          <a:prstGeom prst="ellipse">
            <a:avLst/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02920" y="4050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170432" y="3977640"/>
            <a:ext cx="7516368" cy="658368"/>
          </a:xfrm>
          <a:prstGeom prst="roundRect">
            <a:avLst>
              <a:gd fmla="val 20833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417320" y="4087368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D246C"/>
                </a:solidFill>
                <a:latin typeface="Arial"/>
                <a:ea typeface="Arial"/>
                <a:cs typeface="Arial"/>
                <a:sym typeface="Arial"/>
              </a:rPr>
              <a:t>Compare! Did your stacks match?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02920" y="4773168"/>
            <a:ext cx="2926080" cy="347472"/>
          </a:xfrm>
          <a:prstGeom prst="roundRect">
            <a:avLst>
              <a:gd fmla="val 65789" name="adj"/>
            </a:avLst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02920" y="477316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Then switch roles!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46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502920" y="411480"/>
            <a:ext cx="1280160" cy="1280160"/>
          </a:xfrm>
          <a:prstGeom prst="ellipse">
            <a:avLst/>
          </a:prstGeom>
          <a:solidFill>
            <a:srgbClr val="5B3FA8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658368"/>
            <a:ext cx="786384" cy="78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2011680" y="304840"/>
            <a:ext cx="64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BBE8"/>
                </a:solidFill>
                <a:latin typeface="Arial"/>
                <a:ea typeface="Arial"/>
                <a:cs typeface="Arial"/>
                <a:sym typeface="Arial"/>
              </a:rPr>
              <a:t>NEW 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413905" y="749800"/>
            <a:ext cx="4265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Debugging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9"/>
          <p:cNvGrpSpPr/>
          <p:nvPr/>
        </p:nvGrpSpPr>
        <p:grpSpPr>
          <a:xfrm>
            <a:off x="502920" y="2103120"/>
            <a:ext cx="8138160" cy="1463040"/>
            <a:chOff x="502920" y="2103120"/>
            <a:chExt cx="8138160" cy="1463040"/>
          </a:xfrm>
        </p:grpSpPr>
        <p:sp>
          <p:nvSpPr>
            <p:cNvPr id="173" name="Google Shape;173;p9"/>
            <p:cNvSpPr/>
            <p:nvPr/>
          </p:nvSpPr>
          <p:spPr>
            <a:xfrm>
              <a:off x="502920" y="2103120"/>
              <a:ext cx="8138160" cy="1463040"/>
            </a:xfrm>
            <a:prstGeom prst="roundRect">
              <a:avLst>
                <a:gd fmla="val 10000" name="adj"/>
              </a:avLst>
            </a:prstGeom>
            <a:solidFill>
              <a:srgbClr val="5B3FA8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777240" y="2212848"/>
              <a:ext cx="7589520" cy="1261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When your code does the wrong thing —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you find the mistake and fix it.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That's debugging.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9"/>
          <p:cNvGrpSpPr/>
          <p:nvPr/>
        </p:nvGrpSpPr>
        <p:grpSpPr>
          <a:xfrm>
            <a:off x="502920" y="3767328"/>
            <a:ext cx="8138160" cy="1005840"/>
            <a:chOff x="502920" y="3767328"/>
            <a:chExt cx="8138160" cy="1005840"/>
          </a:xfrm>
        </p:grpSpPr>
        <p:sp>
          <p:nvSpPr>
            <p:cNvPr id="176" name="Google Shape;176;p9"/>
            <p:cNvSpPr/>
            <p:nvPr/>
          </p:nvSpPr>
          <p:spPr>
            <a:xfrm>
              <a:off x="502920" y="3767328"/>
              <a:ext cx="8138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78BFA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Just like spotting the wrong brick in your stack — and swapping it out.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02920" y="4315968"/>
              <a:ext cx="8138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Wrong output?  Find it.  Fix it.  Run a</a:t>
              </a:r>
              <a:r>
                <a:rPr b="1" lang="en-US" sz="1600">
                  <a:solidFill>
                    <a:schemeClr val="lt1"/>
                  </a:solidFill>
                </a:rPr>
                <a:t>g</a:t>
              </a: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ain.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502920" y="34747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DIGITAL ACTIVITY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02920" y="621792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rPr>
              <a:t>Blockly Stack Builder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02920" y="1335024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Drag blocks. Give instructions. Click Run.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0"/>
          <p:cNvGrpSpPr/>
          <p:nvPr/>
        </p:nvGrpSpPr>
        <p:grpSpPr>
          <a:xfrm>
            <a:off x="502920" y="1828800"/>
            <a:ext cx="4005072" cy="1325880"/>
            <a:chOff x="502920" y="1828800"/>
            <a:chExt cx="4005072" cy="1325880"/>
          </a:xfrm>
        </p:grpSpPr>
        <p:sp>
          <p:nvSpPr>
            <p:cNvPr id="187" name="Google Shape;187;p10"/>
            <p:cNvSpPr/>
            <p:nvPr/>
          </p:nvSpPr>
          <p:spPr>
            <a:xfrm>
              <a:off x="502920" y="1828800"/>
              <a:ext cx="4005072" cy="1325880"/>
            </a:xfrm>
            <a:prstGeom prst="roundRect">
              <a:avLst>
                <a:gd fmla="val 10345" name="adj"/>
              </a:avLst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1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667512" y="1975104"/>
              <a:ext cx="1005840" cy="320040"/>
            </a:xfrm>
            <a:prstGeom prst="roundRect">
              <a:avLst>
                <a:gd fmla="val 71429" name="adj"/>
              </a:avLst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</a:rPr>
                <a:t>Level 1</a:t>
              </a:r>
              <a:endParaRPr b="1" sz="1100">
                <a:solidFill>
                  <a:schemeClr val="lt1"/>
                </a:solidFill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85800" y="2377440"/>
              <a:ext cx="36210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Stack red → blue → yellow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0"/>
            <p:cNvSpPr/>
            <p:nvPr/>
          </p:nvSpPr>
          <p:spPr>
            <a:xfrm>
              <a:off x="685800" y="2834640"/>
              <a:ext cx="3621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100"/>
                <a:buFont typeface="Arial"/>
                <a:buNone/>
              </a:pPr>
              <a:r>
                <a:rPr b="0" i="1" lang="en-US" sz="1100" u="none" cap="none" strike="noStrike">
                  <a:solidFill>
                    <a:srgbClr val="C9BBE8"/>
                  </a:solidFill>
                  <a:latin typeface="Arial"/>
                  <a:ea typeface="Arial"/>
                  <a:cs typeface="Arial"/>
                  <a:sym typeface="Arial"/>
                </a:rPr>
                <a:t>Basic sequencing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0"/>
          <p:cNvGrpSpPr/>
          <p:nvPr/>
        </p:nvGrpSpPr>
        <p:grpSpPr>
          <a:xfrm>
            <a:off x="4818888" y="1828800"/>
            <a:ext cx="4005072" cy="1325880"/>
            <a:chOff x="4818888" y="1828800"/>
            <a:chExt cx="4005072" cy="1325880"/>
          </a:xfrm>
        </p:grpSpPr>
        <p:sp>
          <p:nvSpPr>
            <p:cNvPr id="192" name="Google Shape;192;p10"/>
            <p:cNvSpPr/>
            <p:nvPr/>
          </p:nvSpPr>
          <p:spPr>
            <a:xfrm>
              <a:off x="4818888" y="1828800"/>
              <a:ext cx="4005072" cy="1325880"/>
            </a:xfrm>
            <a:prstGeom prst="roundRect">
              <a:avLst>
                <a:gd fmla="val 10345" name="adj"/>
              </a:avLst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1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4983480" y="1975104"/>
              <a:ext cx="1005840" cy="320040"/>
            </a:xfrm>
            <a:prstGeom prst="roundRect">
              <a:avLst>
                <a:gd fmla="val 71429" name="adj"/>
              </a:avLst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</a:rPr>
                <a:t>Level 2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5001768" y="2377440"/>
              <a:ext cx="36210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Stack 4 bricks in order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5001768" y="2834640"/>
              <a:ext cx="3621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100"/>
                <a:buFont typeface="Arial"/>
                <a:buNone/>
              </a:pPr>
              <a:r>
                <a:rPr b="0" i="1" lang="en-US" sz="1100" u="none" cap="none" strike="noStrike">
                  <a:solidFill>
                    <a:srgbClr val="C9BBE8"/>
                  </a:solidFill>
                  <a:latin typeface="Arial"/>
                  <a:ea typeface="Arial"/>
                  <a:cs typeface="Arial"/>
                  <a:sym typeface="Arial"/>
                </a:rPr>
                <a:t>Longer sequences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0"/>
          <p:cNvGrpSpPr/>
          <p:nvPr/>
        </p:nvGrpSpPr>
        <p:grpSpPr>
          <a:xfrm>
            <a:off x="502920" y="3337560"/>
            <a:ext cx="4005072" cy="1325880"/>
            <a:chOff x="502920" y="3337560"/>
            <a:chExt cx="4005072" cy="1325880"/>
          </a:xfrm>
        </p:grpSpPr>
        <p:sp>
          <p:nvSpPr>
            <p:cNvPr id="197" name="Google Shape;197;p10"/>
            <p:cNvSpPr/>
            <p:nvPr/>
          </p:nvSpPr>
          <p:spPr>
            <a:xfrm>
              <a:off x="502920" y="3337560"/>
              <a:ext cx="4005072" cy="1325880"/>
            </a:xfrm>
            <a:prstGeom prst="roundRect">
              <a:avLst>
                <a:gd fmla="val 10345" name="adj"/>
              </a:avLst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1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0"/>
            <p:cNvSpPr/>
            <p:nvPr/>
          </p:nvSpPr>
          <p:spPr>
            <a:xfrm>
              <a:off x="667512" y="3483864"/>
              <a:ext cx="1005840" cy="320040"/>
            </a:xfrm>
            <a:prstGeom prst="roundRect">
              <a:avLst>
                <a:gd fmla="val 71429" name="adj"/>
              </a:avLst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</a:rPr>
                <a:t>Level 3</a:t>
              </a:r>
              <a:endParaRPr b="1" sz="1100">
                <a:solidFill>
                  <a:schemeClr val="lt1"/>
                </a:solidFill>
              </a:endParaRPr>
            </a:p>
          </p:txBody>
        </p:sp>
        <p:sp>
          <p:nvSpPr>
            <p:cNvPr id="199" name="Google Shape;199;p10"/>
            <p:cNvSpPr/>
            <p:nvPr/>
          </p:nvSpPr>
          <p:spPr>
            <a:xfrm>
              <a:off x="685800" y="3886200"/>
              <a:ext cx="36210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Red → blue → red → blue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0"/>
            <p:cNvSpPr/>
            <p:nvPr/>
          </p:nvSpPr>
          <p:spPr>
            <a:xfrm>
              <a:off x="685800" y="4343400"/>
              <a:ext cx="3621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100"/>
                <a:buFont typeface="Arial"/>
                <a:buNone/>
              </a:pPr>
              <a:r>
                <a:rPr b="0" i="1" lang="en-US" sz="1100" u="none" cap="none" strike="noStrike">
                  <a:solidFill>
                    <a:srgbClr val="C9BBE8"/>
                  </a:solidFill>
                  <a:latin typeface="Arial"/>
                  <a:ea typeface="Arial"/>
                  <a:cs typeface="Arial"/>
                  <a:sym typeface="Arial"/>
                </a:rPr>
                <a:t>Patterns &amp; loops preview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0"/>
          <p:cNvGrpSpPr/>
          <p:nvPr/>
        </p:nvGrpSpPr>
        <p:grpSpPr>
          <a:xfrm>
            <a:off x="4818888" y="3337560"/>
            <a:ext cx="4005072" cy="1325880"/>
            <a:chOff x="4818888" y="3337560"/>
            <a:chExt cx="4005072" cy="1325880"/>
          </a:xfrm>
        </p:grpSpPr>
        <p:sp>
          <p:nvSpPr>
            <p:cNvPr id="202" name="Google Shape;202;p10"/>
            <p:cNvSpPr/>
            <p:nvPr/>
          </p:nvSpPr>
          <p:spPr>
            <a:xfrm>
              <a:off x="4818888" y="3337560"/>
              <a:ext cx="4005072" cy="1325880"/>
            </a:xfrm>
            <a:prstGeom prst="roundRect">
              <a:avLst>
                <a:gd fmla="val 10345" name="adj"/>
              </a:avLst>
            </a:prstGeom>
            <a:solidFill>
              <a:srgbClr val="3D246C"/>
            </a:solidFill>
            <a:ln cap="flat" cmpd="sng" w="12700">
              <a:solidFill>
                <a:srgbClr val="3D246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7000" rotWithShape="0" algn="bl" dir="2700000" dist="38100">
                <a:srgbClr val="000000">
                  <a:alpha val="1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4983480" y="3483864"/>
              <a:ext cx="1005840" cy="320040"/>
            </a:xfrm>
            <a:prstGeom prst="roundRect">
              <a:avLst>
                <a:gd fmla="val 71429" name="adj"/>
              </a:avLst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</a:rPr>
                <a:t>Level 4</a:t>
              </a:r>
              <a:endParaRPr b="1" sz="1100">
                <a:solidFill>
                  <a:schemeClr val="lt1"/>
                </a:solidFill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5001768" y="3886200"/>
              <a:ext cx="36210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Arial"/>
                  <a:ea typeface="Arial"/>
                  <a:cs typeface="Arial"/>
                  <a:sym typeface="Arial"/>
                </a:rPr>
                <a:t>Free build — design your own!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5001768" y="4343400"/>
              <a:ext cx="3621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100"/>
                <a:buFont typeface="Arial"/>
                <a:buNone/>
              </a:pPr>
              <a:r>
                <a:rPr b="0" i="1" lang="en-US" sz="1100" u="none" cap="none" strike="noStrike">
                  <a:solidFill>
                    <a:srgbClr val="C9BBE8"/>
                  </a:solidFill>
                  <a:latin typeface="Arial"/>
                  <a:ea typeface="Arial"/>
                  <a:cs typeface="Arial"/>
                  <a:sym typeface="Arial"/>
                </a:rPr>
                <a:t>Creative challenge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0"/>
          <p:cNvSpPr/>
          <p:nvPr/>
        </p:nvSpPr>
        <p:spPr>
          <a:xfrm>
            <a:off x="502920" y="4892040"/>
            <a:ext cx="8138160" cy="384048"/>
          </a:xfrm>
          <a:prstGeom prst="roundRect">
            <a:avLst>
              <a:gd fmla="val 23810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85800" y="49103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3D246C"/>
                </a:solidFill>
                <a:latin typeface="Arial"/>
                <a:ea typeface="Arial"/>
                <a:cs typeface="Arial"/>
                <a:sym typeface="Arial"/>
              </a:rPr>
              <a:t>Is what the computer built the same as what you meant?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502920" y="3474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02920" y="621792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rPr>
              <a:t>Let's Think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02920" y="1554480"/>
            <a:ext cx="8138160" cy="987552"/>
          </a:xfrm>
          <a:prstGeom prst="roundRect">
            <a:avLst>
              <a:gd fmla="val 13889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749808" y="1783080"/>
            <a:ext cx="502920" cy="502920"/>
          </a:xfrm>
          <a:prstGeom prst="ellipse">
            <a:avLst/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74980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463040" y="1645920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rPr>
              <a:t>What is coding?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463040" y="21031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Try to say it in your own words.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02920" y="2697480"/>
            <a:ext cx="8138160" cy="987552"/>
          </a:xfrm>
          <a:prstGeom prst="roundRect">
            <a:avLst>
              <a:gd fmla="val 13889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749808" y="2926080"/>
            <a:ext cx="502920" cy="502920"/>
          </a:xfrm>
          <a:prstGeom prst="ellipse">
            <a:avLst/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749808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463040" y="2788920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rPr>
              <a:t>What happens when instructions are wrong?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463040" y="32461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Think about your LEGO stack.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02920" y="3840480"/>
            <a:ext cx="8138160" cy="987552"/>
          </a:xfrm>
          <a:prstGeom prst="roundRect">
            <a:avLst>
              <a:gd fmla="val 13889" name="adj"/>
            </a:avLst>
          </a:prstGeom>
          <a:solidFill>
            <a:srgbClr val="F2ECE6"/>
          </a:solidFill>
          <a:ln cap="flat" cmpd="sng" w="12700">
            <a:solidFill>
              <a:srgbClr val="F2EC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749808" y="4069080"/>
            <a:ext cx="502920" cy="502920"/>
          </a:xfrm>
          <a:prstGeom prst="ellipse">
            <a:avLst/>
          </a:prstGeom>
          <a:solidFill>
            <a:srgbClr val="3D246C"/>
          </a:solidFill>
          <a:ln cap="flat" cmpd="sng" w="12700">
            <a:solidFill>
              <a:srgbClr val="3D24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49808" y="4069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463040" y="3931920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46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rPr>
              <a:t>How is coding like giving directions to a robot?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463040" y="43891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B3FA8"/>
                </a:solidFill>
                <a:latin typeface="Arial"/>
                <a:ea typeface="Arial"/>
                <a:cs typeface="Arial"/>
                <a:sym typeface="Arial"/>
              </a:rPr>
              <a:t>Be specific — every step counts.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46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2"/>
          <p:cNvGrpSpPr/>
          <p:nvPr/>
        </p:nvGrpSpPr>
        <p:grpSpPr>
          <a:xfrm>
            <a:off x="3794760" y="182880"/>
            <a:ext cx="1463040" cy="1463040"/>
            <a:chOff x="3794760" y="182880"/>
            <a:chExt cx="1463040" cy="1463040"/>
          </a:xfrm>
        </p:grpSpPr>
        <p:sp>
          <p:nvSpPr>
            <p:cNvPr id="236" name="Google Shape;236;p12"/>
            <p:cNvSpPr/>
            <p:nvPr/>
          </p:nvSpPr>
          <p:spPr>
            <a:xfrm>
              <a:off x="3794760" y="182880"/>
              <a:ext cx="1463040" cy="1463040"/>
            </a:xfrm>
            <a:prstGeom prst="ellipse">
              <a:avLst/>
            </a:prstGeom>
            <a:solidFill>
              <a:srgbClr val="7B5FC4"/>
            </a:solidFill>
            <a:ln cap="flat" cmpd="sng" w="12700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37" name="Google Shape;23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41648" y="429768"/>
              <a:ext cx="969264" cy="9692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12"/>
          <p:cNvSpPr/>
          <p:nvPr/>
        </p:nvSpPr>
        <p:spPr>
          <a:xfrm>
            <a:off x="502920" y="1755648"/>
            <a:ext cx="8138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BBE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BBE8"/>
                </a:solidFill>
                <a:latin typeface="Arial"/>
                <a:ea typeface="Arial"/>
                <a:cs typeface="Arial"/>
                <a:sym typeface="Arial"/>
              </a:rPr>
              <a:t>BADGE  OF  THE 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02920" y="2084832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Instruction Explorer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502920" y="3154680"/>
            <a:ext cx="2606040" cy="804672"/>
          </a:xfrm>
          <a:prstGeom prst="roundRect">
            <a:avLst>
              <a:gd fmla="val 13636" name="adj"/>
            </a:avLst>
          </a:prstGeom>
          <a:solidFill>
            <a:srgbClr val="5B3FA8"/>
          </a:solidFill>
          <a:ln cap="flat" cmpd="sng" w="12700">
            <a:solidFill>
              <a:srgbClr val="5B3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1069848" y="3218688"/>
            <a:ext cx="19019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Played the Human Robot Game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3264408" y="3154680"/>
            <a:ext cx="2606040" cy="804672"/>
          </a:xfrm>
          <a:prstGeom prst="roundRect">
            <a:avLst>
              <a:gd fmla="val 13636" name="adj"/>
            </a:avLst>
          </a:prstGeom>
          <a:solidFill>
            <a:srgbClr val="5B3FA8"/>
          </a:solidFill>
          <a:ln cap="flat" cmpd="sng" w="12700">
            <a:solidFill>
              <a:srgbClr val="5B3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401568" y="3291840"/>
            <a:ext cx="320040" cy="3200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3831336" y="3218688"/>
            <a:ext cx="19019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Finished Level 1 on Blockly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025896" y="3154680"/>
            <a:ext cx="2606040" cy="804672"/>
          </a:xfrm>
          <a:prstGeom prst="roundRect">
            <a:avLst>
              <a:gd fmla="val 13636" name="adj"/>
            </a:avLst>
          </a:prstGeom>
          <a:solidFill>
            <a:srgbClr val="5B3FA8"/>
          </a:solidFill>
          <a:ln cap="flat" cmpd="sng" w="12700">
            <a:solidFill>
              <a:srgbClr val="5B3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6163056" y="3291840"/>
            <a:ext cx="320040" cy="3200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6592824" y="3218688"/>
            <a:ext cx="19019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Arial"/>
                <a:ea typeface="Arial"/>
                <a:cs typeface="Arial"/>
                <a:sym typeface="Arial"/>
              </a:rPr>
              <a:t>Can explain coding in your own 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