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Playfair Displ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bold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si=hvtr4lQ6ZVkEsuPy&amp;v=O9dx2mHXtPI&amp;feature=youtu.be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hyI6zukdD4Y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0" y="82296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Conditionals</a:t>
            </a:r>
            <a:endParaRPr b="1" sz="4600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600"/>
              <a:buFont typeface="Calibri"/>
              <a:buNone/>
            </a:pPr>
            <a:r>
              <a:rPr lang="en-US" sz="2600">
                <a:solidFill>
                  <a:srgbClr val="6D28D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</a:t>
            </a:r>
            <a:endParaRPr sz="2600">
              <a:solidFill>
                <a:srgbClr val="6D28D9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2971800"/>
            <a:ext cx="3383280" cy="566928"/>
          </a:xfrm>
          <a:prstGeom prst="roundRect">
            <a:avLst>
              <a:gd fmla="val 161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This…Then That!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5" y="3749050"/>
            <a:ext cx="4348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3  •  </a:t>
            </a: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DREAM BEYOND LIMITS </a:t>
            </a: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 •</a:t>
            </a:r>
            <a:r>
              <a:rPr b="1" lang="en-US" sz="13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 THE CODING CLUBHOUSE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578" y="731300"/>
            <a:ext cx="4441050" cy="4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Let's Remember Loops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457200" y="1188720"/>
            <a:ext cx="2560320" cy="1417320"/>
            <a:chOff x="457200" y="1188720"/>
            <a:chExt cx="2560320" cy="1417320"/>
          </a:xfrm>
        </p:grpSpPr>
        <p:sp>
          <p:nvSpPr>
            <p:cNvPr id="27" name="Google Shape;27;p4"/>
            <p:cNvSpPr/>
            <p:nvPr/>
          </p:nvSpPr>
          <p:spPr>
            <a:xfrm>
              <a:off x="457200" y="1188720"/>
              <a:ext cx="2560320" cy="1417320"/>
            </a:xfrm>
            <a:prstGeom prst="roundRect">
              <a:avLst>
                <a:gd fmla="val 7742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548640" y="1353312"/>
              <a:ext cx="640080" cy="64008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9" name="Google Shape;2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2658" y="1497330"/>
              <a:ext cx="352044" cy="352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30;p4"/>
            <p:cNvSpPr/>
            <p:nvPr/>
          </p:nvSpPr>
          <p:spPr>
            <a:xfrm>
              <a:off x="1280160" y="1371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A loop is…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1280160" y="1810512"/>
              <a:ext cx="1600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A6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5B5FA6"/>
                  </a:solidFill>
                  <a:latin typeface="Calibri"/>
                  <a:ea typeface="Calibri"/>
                  <a:cs typeface="Calibri"/>
                  <a:sym typeface="Calibri"/>
                </a:rPr>
                <a:t>Finish the sentence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32;p4"/>
          <p:cNvGrpSpPr/>
          <p:nvPr/>
        </p:nvGrpSpPr>
        <p:grpSpPr>
          <a:xfrm>
            <a:off x="3291840" y="1188720"/>
            <a:ext cx="2560320" cy="1417320"/>
            <a:chOff x="3291840" y="1188720"/>
            <a:chExt cx="2560320" cy="1417320"/>
          </a:xfrm>
        </p:grpSpPr>
        <p:sp>
          <p:nvSpPr>
            <p:cNvPr id="33" name="Google Shape;33;p4"/>
            <p:cNvSpPr/>
            <p:nvPr/>
          </p:nvSpPr>
          <p:spPr>
            <a:xfrm>
              <a:off x="3291840" y="1188720"/>
              <a:ext cx="2560320" cy="1417320"/>
            </a:xfrm>
            <a:prstGeom prst="roundRect">
              <a:avLst>
                <a:gd fmla="val 7742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3383280" y="1353312"/>
              <a:ext cx="640080" cy="64008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35" name="Google Shape;3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27298" y="1497330"/>
              <a:ext cx="352044" cy="352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4"/>
            <p:cNvSpPr/>
            <p:nvPr/>
          </p:nvSpPr>
          <p:spPr>
            <a:xfrm>
              <a:off x="4114800" y="1371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My loop pattern was…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4114800" y="1810512"/>
              <a:ext cx="1600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A6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5B5FA6"/>
                  </a:solidFill>
                  <a:latin typeface="Calibri"/>
                  <a:ea typeface="Calibri"/>
                  <a:cs typeface="Calibri"/>
                  <a:sym typeface="Calibri"/>
                </a:rPr>
                <a:t>Yesterday's challenge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6126480" y="1188720"/>
            <a:ext cx="2560320" cy="1417320"/>
            <a:chOff x="6126480" y="1188720"/>
            <a:chExt cx="2560320" cy="1417320"/>
          </a:xfrm>
        </p:grpSpPr>
        <p:sp>
          <p:nvSpPr>
            <p:cNvPr id="39" name="Google Shape;39;p4"/>
            <p:cNvSpPr/>
            <p:nvPr/>
          </p:nvSpPr>
          <p:spPr>
            <a:xfrm>
              <a:off x="6126480" y="1188720"/>
              <a:ext cx="2560320" cy="1417320"/>
            </a:xfrm>
            <a:prstGeom prst="roundRect">
              <a:avLst>
                <a:gd fmla="val 7742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217920" y="1353312"/>
              <a:ext cx="640080" cy="64008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1" name="Google Shape;4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61938" y="1497330"/>
              <a:ext cx="352044" cy="352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4"/>
            <p:cNvSpPr/>
            <p:nvPr/>
          </p:nvSpPr>
          <p:spPr>
            <a:xfrm>
              <a:off x="6949440" y="1371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A loop in real life…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6949440" y="1810512"/>
              <a:ext cx="1600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5FA6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5B5FA6"/>
                  </a:solidFill>
                  <a:latin typeface="Calibri"/>
                  <a:ea typeface="Calibri"/>
                  <a:cs typeface="Calibri"/>
                  <a:sym typeface="Calibri"/>
                </a:rPr>
                <a:t>Give an example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457200" y="2880360"/>
            <a:ext cx="8229600" cy="1874520"/>
            <a:chOff x="457200" y="2880360"/>
            <a:chExt cx="8229600" cy="1874520"/>
          </a:xfrm>
        </p:grpSpPr>
        <p:sp>
          <p:nvSpPr>
            <p:cNvPr id="45" name="Google Shape;45;p4"/>
            <p:cNvSpPr/>
            <p:nvPr/>
          </p:nvSpPr>
          <p:spPr>
            <a:xfrm>
              <a:off x="457200" y="2880360"/>
              <a:ext cx="8229600" cy="1874520"/>
            </a:xfrm>
            <a:prstGeom prst="roundRect">
              <a:avLst>
                <a:gd fmla="val 5854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40080" y="2971800"/>
              <a:ext cx="36576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Quick Challenge!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4"/>
          <p:cNvSpPr/>
          <p:nvPr/>
        </p:nvSpPr>
        <p:spPr>
          <a:xfrm>
            <a:off x="64008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FF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28016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3B82F6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92024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FF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56032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3B82F6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20040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FF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840480" y="3456432"/>
            <a:ext cx="566928" cy="438912"/>
          </a:xfrm>
          <a:prstGeom prst="roundRect">
            <a:avLst>
              <a:gd fmla="val 12500" name="adj"/>
            </a:avLst>
          </a:prstGeom>
          <a:solidFill>
            <a:srgbClr val="3B82F6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608511" y="3108960"/>
            <a:ext cx="274200" cy="27420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974271" y="3090672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Is this a loop?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608511" y="3593592"/>
            <a:ext cx="274200" cy="27420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974271" y="3575304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What is the repeating unit?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608511" y="4078224"/>
            <a:ext cx="274200" cy="27420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974271" y="4059936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How many times does it repeat?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Robot Rules! — IF → THEN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p5"/>
          <p:cNvGrpSpPr/>
          <p:nvPr/>
        </p:nvGrpSpPr>
        <p:grpSpPr>
          <a:xfrm>
            <a:off x="502920" y="1261872"/>
            <a:ext cx="3611940" cy="777240"/>
            <a:chOff x="502920" y="1261872"/>
            <a:chExt cx="3611940" cy="777240"/>
          </a:xfrm>
        </p:grpSpPr>
        <p:grpSp>
          <p:nvGrpSpPr>
            <p:cNvPr id="66" name="Google Shape;66;p5"/>
            <p:cNvGrpSpPr/>
            <p:nvPr/>
          </p:nvGrpSpPr>
          <p:grpSpPr>
            <a:xfrm>
              <a:off x="502920" y="1261872"/>
              <a:ext cx="2743200" cy="777240"/>
              <a:chOff x="502920" y="1261872"/>
              <a:chExt cx="2743200" cy="777240"/>
            </a:xfrm>
          </p:grpSpPr>
          <p:sp>
            <p:nvSpPr>
              <p:cNvPr id="67" name="Google Shape;67;p5"/>
              <p:cNvSpPr/>
              <p:nvPr/>
            </p:nvSpPr>
            <p:spPr>
              <a:xfrm>
                <a:off x="502920" y="1261872"/>
                <a:ext cx="2743200" cy="777240"/>
              </a:xfrm>
              <a:prstGeom prst="roundRect">
                <a:avLst>
                  <a:gd fmla="val 11765" name="adj"/>
                </a:avLst>
              </a:prstGeom>
              <a:solidFill>
                <a:srgbClr val="312E81"/>
              </a:solidFill>
              <a:ln cap="flat" cmpd="sng" w="12700">
                <a:solidFill>
                  <a:srgbClr val="312E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594360" y="1261872"/>
                <a:ext cx="256032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AF7F2"/>
                  </a:buClr>
                  <a:buSzPts val="1500"/>
                  <a:buFont typeface="Calibri"/>
                  <a:buNone/>
                </a:pPr>
                <a:r>
                  <a:rPr b="1" i="0" lang="en-US" sz="1500" u="none" cap="none" strike="noStrike">
                    <a:solidFill>
                      <a:srgbClr val="FAF7F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IF  I say 'banana'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" name="Google Shape;69;p5"/>
            <p:cNvSpPr/>
            <p:nvPr/>
          </p:nvSpPr>
          <p:spPr>
            <a:xfrm>
              <a:off x="3337560" y="1463040"/>
              <a:ext cx="777300" cy="384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1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5"/>
          <p:cNvGrpSpPr/>
          <p:nvPr/>
        </p:nvGrpSpPr>
        <p:grpSpPr>
          <a:xfrm>
            <a:off x="4206240" y="1261872"/>
            <a:ext cx="2743200" cy="777240"/>
            <a:chOff x="4206240" y="1261872"/>
            <a:chExt cx="2743200" cy="777240"/>
          </a:xfrm>
        </p:grpSpPr>
        <p:sp>
          <p:nvSpPr>
            <p:cNvPr id="71" name="Google Shape;71;p5"/>
            <p:cNvSpPr/>
            <p:nvPr/>
          </p:nvSpPr>
          <p:spPr>
            <a:xfrm>
              <a:off x="4206240" y="1261872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297680" y="1261872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Spin around!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5"/>
          <p:cNvGrpSpPr/>
          <p:nvPr/>
        </p:nvGrpSpPr>
        <p:grpSpPr>
          <a:xfrm>
            <a:off x="502920" y="2377440"/>
            <a:ext cx="2743200" cy="777240"/>
            <a:chOff x="502920" y="2377440"/>
            <a:chExt cx="2743200" cy="777240"/>
          </a:xfrm>
        </p:grpSpPr>
        <p:sp>
          <p:nvSpPr>
            <p:cNvPr id="74" name="Google Shape;74;p5"/>
            <p:cNvSpPr/>
            <p:nvPr/>
          </p:nvSpPr>
          <p:spPr>
            <a:xfrm>
              <a:off x="502920" y="2377440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594360" y="2377440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 I clap twice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5"/>
          <p:cNvSpPr/>
          <p:nvPr/>
        </p:nvSpPr>
        <p:spPr>
          <a:xfrm>
            <a:off x="3337560" y="2578608"/>
            <a:ext cx="777240" cy="3840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4206240" y="2377440"/>
            <a:ext cx="2743200" cy="777240"/>
            <a:chOff x="4206240" y="2377440"/>
            <a:chExt cx="2743200" cy="777240"/>
          </a:xfrm>
        </p:grpSpPr>
        <p:sp>
          <p:nvSpPr>
            <p:cNvPr id="78" name="Google Shape;78;p5"/>
            <p:cNvSpPr/>
            <p:nvPr/>
          </p:nvSpPr>
          <p:spPr>
            <a:xfrm>
              <a:off x="4206240" y="2377440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4297680" y="2377440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Jump!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5"/>
          <p:cNvGrpSpPr/>
          <p:nvPr/>
        </p:nvGrpSpPr>
        <p:grpSpPr>
          <a:xfrm>
            <a:off x="502920" y="3493008"/>
            <a:ext cx="3611880" cy="777240"/>
            <a:chOff x="502920" y="3493008"/>
            <a:chExt cx="3611880" cy="777240"/>
          </a:xfrm>
        </p:grpSpPr>
        <p:sp>
          <p:nvSpPr>
            <p:cNvPr id="81" name="Google Shape;81;p5"/>
            <p:cNvSpPr/>
            <p:nvPr/>
          </p:nvSpPr>
          <p:spPr>
            <a:xfrm>
              <a:off x="502920" y="3493008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94360" y="3493008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 I say 'dance'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3337560" y="3694176"/>
              <a:ext cx="777240" cy="38404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1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5"/>
          <p:cNvGrpSpPr/>
          <p:nvPr/>
        </p:nvGrpSpPr>
        <p:grpSpPr>
          <a:xfrm>
            <a:off x="4206240" y="3493008"/>
            <a:ext cx="2743200" cy="777240"/>
            <a:chOff x="4206240" y="3493008"/>
            <a:chExt cx="2743200" cy="777240"/>
          </a:xfrm>
        </p:grpSpPr>
        <p:sp>
          <p:nvSpPr>
            <p:cNvPr id="85" name="Google Shape;85;p5"/>
            <p:cNvSpPr/>
            <p:nvPr/>
          </p:nvSpPr>
          <p:spPr>
            <a:xfrm>
              <a:off x="4206240" y="3493008"/>
              <a:ext cx="274320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4297680" y="3493008"/>
              <a:ext cx="256032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Freeze!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5"/>
          <p:cNvGrpSpPr/>
          <p:nvPr/>
        </p:nvGrpSpPr>
        <p:grpSpPr>
          <a:xfrm>
            <a:off x="502920" y="4617720"/>
            <a:ext cx="8138160" cy="438912"/>
            <a:chOff x="502920" y="4617720"/>
            <a:chExt cx="8138160" cy="438912"/>
          </a:xfrm>
        </p:grpSpPr>
        <p:sp>
          <p:nvSpPr>
            <p:cNvPr id="88" name="Google Shape;88;p5"/>
            <p:cNvSpPr/>
            <p:nvPr/>
          </p:nvSpPr>
          <p:spPr>
            <a:xfrm>
              <a:off x="502920" y="4617720"/>
              <a:ext cx="8138160" cy="438912"/>
            </a:xfrm>
            <a:prstGeom prst="roundRect">
              <a:avLst>
                <a:gd fmla="val 20833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94360" y="4617720"/>
              <a:ext cx="7955280" cy="438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Only act when the condition is TRUE — otherwise, do nothing!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548650" y="274325"/>
            <a:ext cx="40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What Is a Conditional?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50" y="1304700"/>
            <a:ext cx="4830000" cy="611100"/>
          </a:xfrm>
          <a:prstGeom prst="roundRect">
            <a:avLst>
              <a:gd fmla="val 114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800"/>
              <a:buFont typeface="Calibri"/>
              <a:buNone/>
            </a:pPr>
            <a:r>
              <a:rPr b="1" lang="en-US" sz="2400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IF  [condition]  →  THEN  [action]</a:t>
            </a:r>
            <a:endParaRPr sz="1000"/>
          </a:p>
        </p:txBody>
      </p:sp>
      <p:grpSp>
        <p:nvGrpSpPr>
          <p:cNvPr id="97" name="Google Shape;97;p6"/>
          <p:cNvGrpSpPr/>
          <p:nvPr/>
        </p:nvGrpSpPr>
        <p:grpSpPr>
          <a:xfrm>
            <a:off x="548655" y="2262402"/>
            <a:ext cx="1980024" cy="1234377"/>
            <a:chOff x="502900" y="1600200"/>
            <a:chExt cx="2651700" cy="1682400"/>
          </a:xfrm>
        </p:grpSpPr>
        <p:sp>
          <p:nvSpPr>
            <p:cNvPr id="98" name="Google Shape;98;p6"/>
            <p:cNvSpPr/>
            <p:nvPr/>
          </p:nvSpPr>
          <p:spPr>
            <a:xfrm>
              <a:off x="502900" y="160020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5B3FA8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25" lIns="74425" spcFirstLastPara="1" rIns="74425" wrap="square" tIns="7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26437" y="1707342"/>
              <a:ext cx="457200" cy="457200"/>
            </a:xfrm>
            <a:prstGeom prst="ellipse">
              <a:avLst/>
            </a:prstGeom>
            <a:solidFill>
              <a:srgbClr val="7B5FC4"/>
            </a:solidFill>
            <a:ln cap="flat" cmpd="sng" w="10325">
              <a:solidFill>
                <a:srgbClr val="7B5F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25" lIns="74425" spcFirstLastPara="1" rIns="74425" wrap="square" tIns="74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40">
                  <a:solidFill>
                    <a:srgbClr val="F2ECE6"/>
                  </a:solidFill>
                </a:rPr>
                <a:t>1</a:t>
              </a:r>
              <a:endParaRPr b="1" sz="1140">
                <a:solidFill>
                  <a:srgbClr val="F2ECE6"/>
                </a:solidFill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67512" y="1923050"/>
              <a:ext cx="2340900" cy="8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25" lIns="74425" spcFirstLastPara="1" rIns="74425" wrap="square" tIns="37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628"/>
                <a:buFont typeface="Calibri"/>
                <a:buNone/>
              </a:pPr>
              <a:r>
                <a:rPr b="1" lang="en-US" sz="1628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</a:t>
              </a:r>
              <a:endParaRPr b="0" i="0" sz="122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6"/>
          <p:cNvGrpSpPr/>
          <p:nvPr/>
        </p:nvGrpSpPr>
        <p:grpSpPr>
          <a:xfrm>
            <a:off x="498434" y="3716495"/>
            <a:ext cx="2030142" cy="1359547"/>
            <a:chOff x="508499" y="3438050"/>
            <a:chExt cx="2651700" cy="1682400"/>
          </a:xfrm>
        </p:grpSpPr>
        <p:sp>
          <p:nvSpPr>
            <p:cNvPr id="102" name="Google Shape;102;p6"/>
            <p:cNvSpPr/>
            <p:nvPr/>
          </p:nvSpPr>
          <p:spPr>
            <a:xfrm>
              <a:off x="508499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50" lIns="74450" spcFirstLastPara="1" rIns="74450" wrap="square" tIns="74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576225" y="3684266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00" lIns="74450" spcFirstLastPara="1" rIns="74450" wrap="square" tIns="37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058"/>
                <a:buFont typeface="Arial"/>
                <a:buNone/>
              </a:pPr>
              <a:r>
                <a:rPr b="1" lang="en-US" sz="1140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The thing you check</a:t>
              </a:r>
              <a:endParaRPr b="1" i="0" sz="114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04" name="Google Shape;104;p6"/>
          <p:cNvGrpSpPr/>
          <p:nvPr/>
        </p:nvGrpSpPr>
        <p:grpSpPr>
          <a:xfrm>
            <a:off x="2936836" y="3729266"/>
            <a:ext cx="2158749" cy="1359547"/>
            <a:chOff x="508499" y="3438050"/>
            <a:chExt cx="2651700" cy="1682400"/>
          </a:xfrm>
        </p:grpSpPr>
        <p:sp>
          <p:nvSpPr>
            <p:cNvPr id="105" name="Google Shape;105;p6"/>
            <p:cNvSpPr/>
            <p:nvPr/>
          </p:nvSpPr>
          <p:spPr>
            <a:xfrm>
              <a:off x="508499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50" lIns="74450" spcFirstLastPara="1" rIns="74450" wrap="square" tIns="74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576225" y="3684266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00" lIns="74450" spcFirstLastPara="1" rIns="74450" wrap="square" tIns="37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058"/>
                <a:buFont typeface="Arial"/>
                <a:buNone/>
              </a:pPr>
              <a:r>
                <a:rPr b="1" lang="en-US" sz="1140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The condition  is met  — do the action</a:t>
              </a:r>
              <a:endParaRPr b="1" i="0" sz="114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07" name="Google Shape;107;p6"/>
          <p:cNvGrpSpPr/>
          <p:nvPr/>
        </p:nvGrpSpPr>
        <p:grpSpPr>
          <a:xfrm>
            <a:off x="5378702" y="3742037"/>
            <a:ext cx="2158749" cy="1359547"/>
            <a:chOff x="508499" y="3438050"/>
            <a:chExt cx="2651700" cy="1682400"/>
          </a:xfrm>
        </p:grpSpPr>
        <p:sp>
          <p:nvSpPr>
            <p:cNvPr id="108" name="Google Shape;108;p6"/>
            <p:cNvSpPr/>
            <p:nvPr/>
          </p:nvSpPr>
          <p:spPr>
            <a:xfrm>
              <a:off x="508499" y="3438050"/>
              <a:ext cx="2651700" cy="1682400"/>
            </a:xfrm>
            <a:prstGeom prst="roundRect">
              <a:avLst>
                <a:gd fmla="val 6207" name="adj"/>
              </a:avLst>
            </a:prstGeom>
            <a:solidFill>
              <a:srgbClr val="F2ECE6"/>
            </a:solidFill>
            <a:ln cap="flat" cmpd="sng" w="10325">
              <a:solidFill>
                <a:srgbClr val="5B3F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450" lIns="74450" spcFirstLastPara="1" rIns="74450" wrap="square" tIns="74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576225" y="3684266"/>
              <a:ext cx="2395800" cy="12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00" lIns="74450" spcFirstLastPara="1" rIns="74450" wrap="square" tIns="372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9BBE8"/>
                </a:buClr>
                <a:buSzPts val="1058"/>
                <a:buFont typeface="Arial"/>
                <a:buNone/>
              </a:pPr>
              <a:r>
                <a:rPr b="1" lang="en-US" sz="1140">
                  <a:solidFill>
                    <a:srgbClr val="3D246C"/>
                  </a:solidFill>
                  <a:latin typeface="Cambria"/>
                  <a:ea typeface="Cambria"/>
                  <a:cs typeface="Cambria"/>
                  <a:sym typeface="Cambria"/>
                </a:rPr>
                <a:t>Not  met — the computer skips  it</a:t>
              </a:r>
              <a:endParaRPr b="1" i="0" sz="1140" u="none" cap="none" strike="noStrike">
                <a:solidFill>
                  <a:srgbClr val="3D246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0" name="Google Shape;110;p6"/>
          <p:cNvGrpSpPr/>
          <p:nvPr/>
        </p:nvGrpSpPr>
        <p:grpSpPr>
          <a:xfrm>
            <a:off x="2935115" y="2312634"/>
            <a:ext cx="2158749" cy="1234377"/>
            <a:chOff x="2935115" y="2312634"/>
            <a:chExt cx="2158749" cy="1234377"/>
          </a:xfrm>
        </p:grpSpPr>
        <p:grpSp>
          <p:nvGrpSpPr>
            <p:cNvPr id="111" name="Google Shape;111;p6"/>
            <p:cNvGrpSpPr/>
            <p:nvPr/>
          </p:nvGrpSpPr>
          <p:grpSpPr>
            <a:xfrm>
              <a:off x="2935115" y="2312634"/>
              <a:ext cx="2158749" cy="1234377"/>
              <a:chOff x="502900" y="1600200"/>
              <a:chExt cx="2651700" cy="1682400"/>
            </a:xfrm>
          </p:grpSpPr>
          <p:sp>
            <p:nvSpPr>
              <p:cNvPr id="112" name="Google Shape;112;p6"/>
              <p:cNvSpPr/>
              <p:nvPr/>
            </p:nvSpPr>
            <p:spPr>
              <a:xfrm>
                <a:off x="502900" y="1600200"/>
                <a:ext cx="2651700" cy="1682400"/>
              </a:xfrm>
              <a:prstGeom prst="roundRect">
                <a:avLst>
                  <a:gd fmla="val 6207" name="adj"/>
                </a:avLst>
              </a:prstGeom>
              <a:solidFill>
                <a:srgbClr val="5B3FA8"/>
              </a:solidFill>
              <a:ln cap="flat" cmpd="sng" w="10325">
                <a:solidFill>
                  <a:srgbClr val="5B3F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1368408" y="1923038"/>
                <a:ext cx="837000" cy="86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225" lIns="74425" spcFirstLastPara="1" rIns="74425" wrap="square" tIns="372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AF7F2"/>
                  </a:buClr>
                  <a:buSzPts val="1628"/>
                  <a:buFont typeface="Calibri"/>
                  <a:buNone/>
                </a:pPr>
                <a:r>
                  <a:rPr b="1" lang="en-US" sz="1628">
                    <a:solidFill>
                      <a:srgbClr val="FAF7F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TRUE</a:t>
                </a:r>
                <a:endParaRPr b="0" i="0" sz="1221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626437" y="1707342"/>
                <a:ext cx="457200" cy="457200"/>
              </a:xfrm>
              <a:prstGeom prst="ellipse">
                <a:avLst/>
              </a:prstGeom>
              <a:solidFill>
                <a:srgbClr val="7B5FC4"/>
              </a:solidFill>
              <a:ln cap="flat" cmpd="sng" w="10325">
                <a:solidFill>
                  <a:srgbClr val="7B5FC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40">
                    <a:solidFill>
                      <a:srgbClr val="F2ECE6"/>
                    </a:solidFill>
                  </a:rPr>
                  <a:t>2</a:t>
                </a:r>
                <a:endParaRPr b="1" sz="1140">
                  <a:solidFill>
                    <a:srgbClr val="F2ECE6"/>
                  </a:solidFill>
                </a:endParaRPr>
              </a:p>
            </p:txBody>
          </p:sp>
        </p:grpSp>
        <p:pic>
          <p:nvPicPr>
            <p:cNvPr descr="preencoded.png" id="115" name="Google Shape;11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16594" y="2726333"/>
              <a:ext cx="304875" cy="304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6"/>
          <p:cNvGrpSpPr/>
          <p:nvPr/>
        </p:nvGrpSpPr>
        <p:grpSpPr>
          <a:xfrm>
            <a:off x="5385434" y="2326244"/>
            <a:ext cx="2158749" cy="1234377"/>
            <a:chOff x="5385434" y="2326244"/>
            <a:chExt cx="2158749" cy="1234377"/>
          </a:xfrm>
        </p:grpSpPr>
        <p:grpSp>
          <p:nvGrpSpPr>
            <p:cNvPr id="117" name="Google Shape;117;p6"/>
            <p:cNvGrpSpPr/>
            <p:nvPr/>
          </p:nvGrpSpPr>
          <p:grpSpPr>
            <a:xfrm>
              <a:off x="5385434" y="2326244"/>
              <a:ext cx="2158749" cy="1234377"/>
              <a:chOff x="502900" y="1600200"/>
              <a:chExt cx="2651700" cy="1682400"/>
            </a:xfrm>
          </p:grpSpPr>
          <p:sp>
            <p:nvSpPr>
              <p:cNvPr id="118" name="Google Shape;118;p6"/>
              <p:cNvSpPr/>
              <p:nvPr/>
            </p:nvSpPr>
            <p:spPr>
              <a:xfrm>
                <a:off x="502900" y="1600200"/>
                <a:ext cx="2651700" cy="1682400"/>
              </a:xfrm>
              <a:prstGeom prst="roundRect">
                <a:avLst>
                  <a:gd fmla="val 6207" name="adj"/>
                </a:avLst>
              </a:prstGeom>
              <a:solidFill>
                <a:srgbClr val="5B3FA8"/>
              </a:solidFill>
              <a:ln cap="flat" cmpd="sng" w="10325">
                <a:solidFill>
                  <a:srgbClr val="5B3F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1157415" y="2080941"/>
                <a:ext cx="966300" cy="56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7225" lIns="74425" spcFirstLastPara="1" rIns="74425" wrap="square" tIns="372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AF7F2"/>
                  </a:buClr>
                  <a:buSzPts val="1628"/>
                  <a:buFont typeface="Calibri"/>
                  <a:buNone/>
                </a:pPr>
                <a:r>
                  <a:rPr b="1" lang="en-US" sz="1628">
                    <a:solidFill>
                      <a:srgbClr val="FAF7F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FALSE</a:t>
                </a:r>
                <a:endParaRPr b="0" i="0" sz="1221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626437" y="1707342"/>
                <a:ext cx="457200" cy="457200"/>
              </a:xfrm>
              <a:prstGeom prst="ellipse">
                <a:avLst/>
              </a:prstGeom>
              <a:solidFill>
                <a:srgbClr val="7B5FC4"/>
              </a:solidFill>
              <a:ln cap="flat" cmpd="sng" w="10325">
                <a:solidFill>
                  <a:srgbClr val="7B5FC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4425" lIns="74425" spcFirstLastPara="1" rIns="74425" wrap="square" tIns="74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40">
                    <a:solidFill>
                      <a:srgbClr val="F2ECE6"/>
                    </a:solidFill>
                  </a:rPr>
                  <a:t>3</a:t>
                </a:r>
                <a:endParaRPr b="1" sz="1140">
                  <a:solidFill>
                    <a:srgbClr val="F2ECE6"/>
                  </a:solidFill>
                </a:endParaRPr>
              </a:p>
            </p:txBody>
          </p:sp>
        </p:grpSp>
        <p:pic>
          <p:nvPicPr>
            <p:cNvPr descr="preencoded.png" id="121" name="Google Shape;121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70282" y="2742730"/>
              <a:ext cx="304875" cy="30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Conditionals in Real Life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7"/>
          <p:cNvGrpSpPr/>
          <p:nvPr/>
        </p:nvGrpSpPr>
        <p:grpSpPr>
          <a:xfrm>
            <a:off x="3913632" y="1234440"/>
            <a:ext cx="2103120" cy="777240"/>
            <a:chOff x="3913632" y="1234440"/>
            <a:chExt cx="2103120" cy="777240"/>
          </a:xfrm>
        </p:grpSpPr>
        <p:sp>
          <p:nvSpPr>
            <p:cNvPr id="129" name="Google Shape;129;p7"/>
            <p:cNvSpPr/>
            <p:nvPr/>
          </p:nvSpPr>
          <p:spPr>
            <a:xfrm>
              <a:off x="3913632" y="1234440"/>
              <a:ext cx="210312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4005072" y="1234440"/>
              <a:ext cx="19202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TRUE  →  Stop!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7"/>
          <p:cNvGrpSpPr/>
          <p:nvPr/>
        </p:nvGrpSpPr>
        <p:grpSpPr>
          <a:xfrm>
            <a:off x="502920" y="1234440"/>
            <a:ext cx="3337560" cy="777240"/>
            <a:chOff x="502920" y="1234440"/>
            <a:chExt cx="3337560" cy="777240"/>
          </a:xfrm>
        </p:grpSpPr>
        <p:sp>
          <p:nvSpPr>
            <p:cNvPr id="132" name="Google Shape;132;p7"/>
            <p:cNvSpPr/>
            <p:nvPr/>
          </p:nvSpPr>
          <p:spPr>
            <a:xfrm>
              <a:off x="502920" y="1234440"/>
              <a:ext cx="260604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594360" y="1234440"/>
              <a:ext cx="24231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the light is red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200400" y="1280160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200400" y="1645920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312E81">
                <a:alpha val="70196"/>
              </a:srgbClr>
            </a:solidFill>
            <a:ln cap="flat" cmpd="sng" w="12700">
              <a:solidFill>
                <a:srgbClr val="312E81">
                  <a:alpha val="7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7"/>
          <p:cNvGrpSpPr/>
          <p:nvPr/>
        </p:nvGrpSpPr>
        <p:grpSpPr>
          <a:xfrm>
            <a:off x="6126480" y="1234440"/>
            <a:ext cx="2560320" cy="777240"/>
            <a:chOff x="6126480" y="1234440"/>
            <a:chExt cx="2560320" cy="777240"/>
          </a:xfrm>
        </p:grpSpPr>
        <p:sp>
          <p:nvSpPr>
            <p:cNvPr id="137" name="Google Shape;137;p7"/>
            <p:cNvSpPr/>
            <p:nvPr/>
          </p:nvSpPr>
          <p:spPr>
            <a:xfrm>
              <a:off x="6126480" y="1234440"/>
              <a:ext cx="256032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2700">
              <a:solidFill>
                <a:srgbClr val="980000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6217920" y="1234440"/>
              <a:ext cx="23774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1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FALSE  →  Keep going?  No!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7"/>
          <p:cNvGrpSpPr/>
          <p:nvPr/>
        </p:nvGrpSpPr>
        <p:grpSpPr>
          <a:xfrm>
            <a:off x="3913632" y="2350008"/>
            <a:ext cx="2103120" cy="777240"/>
            <a:chOff x="3913632" y="2350008"/>
            <a:chExt cx="2103120" cy="777240"/>
          </a:xfrm>
        </p:grpSpPr>
        <p:sp>
          <p:nvSpPr>
            <p:cNvPr id="140" name="Google Shape;140;p7"/>
            <p:cNvSpPr/>
            <p:nvPr/>
          </p:nvSpPr>
          <p:spPr>
            <a:xfrm>
              <a:off x="3913632" y="2350008"/>
              <a:ext cx="210312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4005072" y="2350008"/>
              <a:ext cx="19202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TRUE  →  Eat something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7"/>
          <p:cNvGrpSpPr/>
          <p:nvPr/>
        </p:nvGrpSpPr>
        <p:grpSpPr>
          <a:xfrm>
            <a:off x="502920" y="2350008"/>
            <a:ext cx="3337560" cy="777240"/>
            <a:chOff x="502920" y="2350008"/>
            <a:chExt cx="3337560" cy="777240"/>
          </a:xfrm>
        </p:grpSpPr>
        <p:sp>
          <p:nvSpPr>
            <p:cNvPr id="143" name="Google Shape;143;p7"/>
            <p:cNvSpPr/>
            <p:nvPr/>
          </p:nvSpPr>
          <p:spPr>
            <a:xfrm>
              <a:off x="502920" y="2350008"/>
              <a:ext cx="260604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594360" y="2350008"/>
              <a:ext cx="24231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I'm hungry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3200400" y="2395728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3200400" y="2761488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312E81">
                <a:alpha val="70196"/>
              </a:srgbClr>
            </a:solidFill>
            <a:ln cap="flat" cmpd="sng" w="12700">
              <a:solidFill>
                <a:srgbClr val="312E81">
                  <a:alpha val="7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7"/>
          <p:cNvGrpSpPr/>
          <p:nvPr/>
        </p:nvGrpSpPr>
        <p:grpSpPr>
          <a:xfrm>
            <a:off x="6126480" y="2350008"/>
            <a:ext cx="2560320" cy="777240"/>
            <a:chOff x="6126480" y="2350008"/>
            <a:chExt cx="2560320" cy="777240"/>
          </a:xfrm>
        </p:grpSpPr>
        <p:sp>
          <p:nvSpPr>
            <p:cNvPr id="148" name="Google Shape;148;p7"/>
            <p:cNvSpPr/>
            <p:nvPr/>
          </p:nvSpPr>
          <p:spPr>
            <a:xfrm>
              <a:off x="6126480" y="2350008"/>
              <a:ext cx="256032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2700">
              <a:solidFill>
                <a:srgbClr val="980000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217920" y="2350008"/>
              <a:ext cx="23774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1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FALSE  →  Don't eat — not hungry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3913632" y="3465576"/>
            <a:ext cx="2103120" cy="777240"/>
            <a:chOff x="3913632" y="3465576"/>
            <a:chExt cx="2103120" cy="777240"/>
          </a:xfrm>
        </p:grpSpPr>
        <p:sp>
          <p:nvSpPr>
            <p:cNvPr id="151" name="Google Shape;151;p7"/>
            <p:cNvSpPr/>
            <p:nvPr/>
          </p:nvSpPr>
          <p:spPr>
            <a:xfrm>
              <a:off x="3913632" y="3465576"/>
              <a:ext cx="2103120" cy="777240"/>
            </a:xfrm>
            <a:prstGeom prst="roundRect">
              <a:avLst>
                <a:gd fmla="val 11765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005072" y="3465576"/>
              <a:ext cx="19202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TRUE  →  I look up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502920" y="3465576"/>
            <a:ext cx="3337560" cy="777240"/>
            <a:chOff x="502920" y="3465576"/>
            <a:chExt cx="3337560" cy="777240"/>
          </a:xfrm>
        </p:grpSpPr>
        <p:sp>
          <p:nvSpPr>
            <p:cNvPr id="154" name="Google Shape;154;p7"/>
            <p:cNvSpPr/>
            <p:nvPr/>
          </p:nvSpPr>
          <p:spPr>
            <a:xfrm>
              <a:off x="502920" y="3465576"/>
              <a:ext cx="2606040" cy="777240"/>
            </a:xfrm>
            <a:prstGeom prst="roundRect">
              <a:avLst>
                <a:gd fmla="val 1176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594360" y="3465576"/>
              <a:ext cx="24231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you say my name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3200400" y="3511296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3200400" y="3877056"/>
              <a:ext cx="640080" cy="32918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312E81">
                <a:alpha val="70196"/>
              </a:srgbClr>
            </a:solidFill>
            <a:ln cap="flat" cmpd="sng" w="12700">
              <a:solidFill>
                <a:srgbClr val="312E81">
                  <a:alpha val="7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7"/>
          <p:cNvGrpSpPr/>
          <p:nvPr/>
        </p:nvGrpSpPr>
        <p:grpSpPr>
          <a:xfrm>
            <a:off x="6126480" y="3465576"/>
            <a:ext cx="2560320" cy="777240"/>
            <a:chOff x="6126480" y="3465576"/>
            <a:chExt cx="2560320" cy="777240"/>
          </a:xfrm>
        </p:grpSpPr>
        <p:sp>
          <p:nvSpPr>
            <p:cNvPr id="159" name="Google Shape;159;p7"/>
            <p:cNvSpPr/>
            <p:nvPr/>
          </p:nvSpPr>
          <p:spPr>
            <a:xfrm>
              <a:off x="6126480" y="3465576"/>
              <a:ext cx="256032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2700">
              <a:solidFill>
                <a:srgbClr val="980000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6217920" y="3465576"/>
              <a:ext cx="237744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1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FALSE  →  I keep reading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548650" y="89397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LEGO Challenge: Top Brick Rules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8"/>
          <p:cNvGrpSpPr/>
          <p:nvPr/>
        </p:nvGrpSpPr>
        <p:grpSpPr>
          <a:xfrm>
            <a:off x="502870" y="950823"/>
            <a:ext cx="1995655" cy="2418535"/>
            <a:chOff x="502870" y="950823"/>
            <a:chExt cx="1995655" cy="2418535"/>
          </a:xfrm>
        </p:grpSpPr>
        <p:sp>
          <p:nvSpPr>
            <p:cNvPr id="168" name="Google Shape;168;p8"/>
            <p:cNvSpPr/>
            <p:nvPr/>
          </p:nvSpPr>
          <p:spPr>
            <a:xfrm>
              <a:off x="541183" y="1266357"/>
              <a:ext cx="1920300" cy="2103000"/>
            </a:xfrm>
            <a:prstGeom prst="roundRect">
              <a:avLst>
                <a:gd fmla="val 5714" name="adj"/>
              </a:avLst>
            </a:prstGeom>
            <a:solidFill>
              <a:srgbClr val="F97316">
                <a:alpha val="12156"/>
              </a:srgbClr>
            </a:solidFill>
            <a:ln cap="flat" cmpd="sng" w="12700">
              <a:solidFill>
                <a:srgbClr val="F97316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769783" y="2186442"/>
              <a:ext cx="1463100" cy="36600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502870" y="2213204"/>
              <a:ext cx="19203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211580" y="950823"/>
              <a:ext cx="502800" cy="5028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528412" y="1426170"/>
              <a:ext cx="192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RED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578225" y="2523118"/>
              <a:ext cx="19203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Say "Stop!"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2624328" y="886968"/>
            <a:ext cx="1920240" cy="2450592"/>
            <a:chOff x="2624328" y="886968"/>
            <a:chExt cx="1920240" cy="2450592"/>
          </a:xfrm>
        </p:grpSpPr>
        <p:sp>
          <p:nvSpPr>
            <p:cNvPr id="175" name="Google Shape;175;p8"/>
            <p:cNvSpPr/>
            <p:nvPr/>
          </p:nvSpPr>
          <p:spPr>
            <a:xfrm>
              <a:off x="2624328" y="1234440"/>
              <a:ext cx="1920240" cy="2103120"/>
            </a:xfrm>
            <a:prstGeom prst="roundRect">
              <a:avLst>
                <a:gd fmla="val 5714" name="adj"/>
              </a:avLst>
            </a:prstGeom>
            <a:solidFill>
              <a:srgbClr val="3B82F6">
                <a:alpha val="12156"/>
              </a:srgbClr>
            </a:solidFill>
            <a:ln cap="flat" cmpd="sng" w="12700">
              <a:solidFill>
                <a:srgbClr val="3B82F6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3332988" y="886968"/>
              <a:ext cx="502920" cy="502920"/>
            </a:xfrm>
            <a:prstGeom prst="ellipse">
              <a:avLst/>
            </a:prstGeom>
            <a:solidFill>
              <a:srgbClr val="3B82F6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2624328" y="1463040"/>
              <a:ext cx="192024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BLUE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2852928" y="2194560"/>
              <a:ext cx="1463040" cy="36576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2624328" y="2258568"/>
              <a:ext cx="19202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2624328" y="2514600"/>
              <a:ext cx="19202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Stand up!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8"/>
          <p:cNvGrpSpPr/>
          <p:nvPr/>
        </p:nvGrpSpPr>
        <p:grpSpPr>
          <a:xfrm>
            <a:off x="4745736" y="886968"/>
            <a:ext cx="1920240" cy="2450592"/>
            <a:chOff x="4745736" y="886968"/>
            <a:chExt cx="1920240" cy="2450592"/>
          </a:xfrm>
        </p:grpSpPr>
        <p:sp>
          <p:nvSpPr>
            <p:cNvPr id="182" name="Google Shape;182;p8"/>
            <p:cNvSpPr/>
            <p:nvPr/>
          </p:nvSpPr>
          <p:spPr>
            <a:xfrm>
              <a:off x="5454396" y="886968"/>
              <a:ext cx="502920" cy="502920"/>
            </a:xfrm>
            <a:prstGeom prst="ellipse">
              <a:avLst/>
            </a:prstGeom>
            <a:solidFill>
              <a:srgbClr val="FCD34D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4745736" y="1234440"/>
              <a:ext cx="1920240" cy="2103120"/>
            </a:xfrm>
            <a:prstGeom prst="roundRect">
              <a:avLst>
                <a:gd fmla="val 5714" name="adj"/>
              </a:avLst>
            </a:prstGeom>
            <a:solidFill>
              <a:srgbClr val="FCD34D">
                <a:alpha val="12156"/>
              </a:srgbClr>
            </a:solidFill>
            <a:ln cap="flat" cmpd="sng" w="12700">
              <a:solidFill>
                <a:srgbClr val="FCD34D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4745736" y="1463040"/>
              <a:ext cx="192024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YELLOW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4974336" y="2194560"/>
              <a:ext cx="1463040" cy="36576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4745736" y="2258568"/>
              <a:ext cx="19202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4745736" y="2514600"/>
              <a:ext cx="19202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Clap 3 times!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8"/>
          <p:cNvGrpSpPr/>
          <p:nvPr/>
        </p:nvGrpSpPr>
        <p:grpSpPr>
          <a:xfrm>
            <a:off x="6867144" y="886968"/>
            <a:ext cx="1920240" cy="2450592"/>
            <a:chOff x="6867144" y="886968"/>
            <a:chExt cx="1920240" cy="2450592"/>
          </a:xfrm>
        </p:grpSpPr>
        <p:sp>
          <p:nvSpPr>
            <p:cNvPr id="189" name="Google Shape;189;p8"/>
            <p:cNvSpPr/>
            <p:nvPr/>
          </p:nvSpPr>
          <p:spPr>
            <a:xfrm>
              <a:off x="7575804" y="886968"/>
              <a:ext cx="502920" cy="502920"/>
            </a:xfrm>
            <a:prstGeom prst="ellipse">
              <a:avLst/>
            </a:prstGeom>
            <a:solidFill>
              <a:srgbClr val="22C55E"/>
            </a:solidFill>
            <a:ln cap="flat" cmpd="sng" w="1905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867144" y="1234440"/>
              <a:ext cx="1920240" cy="2103120"/>
            </a:xfrm>
            <a:prstGeom prst="roundRect">
              <a:avLst>
                <a:gd fmla="val 5714" name="adj"/>
              </a:avLst>
            </a:prstGeom>
            <a:solidFill>
              <a:srgbClr val="22C55E">
                <a:alpha val="12156"/>
              </a:srgbClr>
            </a:solidFill>
            <a:ln cap="flat" cmpd="sng" w="12700">
              <a:solidFill>
                <a:srgbClr val="22C55E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6867144" y="1463040"/>
              <a:ext cx="192024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IF top brick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is GREEN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7095744" y="2194560"/>
              <a:ext cx="1463040" cy="36576"/>
            </a:xfrm>
            <a:prstGeom prst="rect">
              <a:avLst/>
            </a:prstGeom>
            <a:solidFill>
              <a:srgbClr val="312E81">
                <a:alpha val="30196"/>
              </a:srgbClr>
            </a:solidFill>
            <a:ln cap="flat" cmpd="sng" w="12700">
              <a:solidFill>
                <a:srgbClr val="312E81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6867144" y="2258568"/>
              <a:ext cx="19202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THEN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6867144" y="2514600"/>
              <a:ext cx="19202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Say "Go go go!"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02920" y="3547872"/>
            <a:ext cx="8138160" cy="548640"/>
            <a:chOff x="502920" y="3547872"/>
            <a:chExt cx="8138160" cy="548640"/>
          </a:xfrm>
        </p:grpSpPr>
        <p:sp>
          <p:nvSpPr>
            <p:cNvPr id="196" name="Google Shape;196;p8"/>
            <p:cNvSpPr/>
            <p:nvPr/>
          </p:nvSpPr>
          <p:spPr>
            <a:xfrm>
              <a:off x="502920" y="3547872"/>
              <a:ext cx="8138160" cy="548640"/>
            </a:xfrm>
            <a:prstGeom prst="roundRect">
              <a:avLst>
                <a:gd fmla="val 16667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594360" y="3547872"/>
              <a:ext cx="79552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Look at the TOP brick only → follow its rule!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502920" y="4206240"/>
            <a:ext cx="8138160" cy="548640"/>
            <a:chOff x="502920" y="4206240"/>
            <a:chExt cx="8138160" cy="548640"/>
          </a:xfrm>
        </p:grpSpPr>
        <p:sp>
          <p:nvSpPr>
            <p:cNvPr id="199" name="Google Shape;199;p8"/>
            <p:cNvSpPr/>
            <p:nvPr/>
          </p:nvSpPr>
          <p:spPr>
            <a:xfrm>
              <a:off x="502920" y="4206240"/>
              <a:ext cx="8138160" cy="548640"/>
            </a:xfrm>
            <a:prstGeom prst="roundRect">
              <a:avLst>
                <a:gd fmla="val 16667" name="adj"/>
              </a:avLst>
            </a:prstGeom>
            <a:solidFill>
              <a:srgbClr val="6D28D9">
                <a:alpha val="12156"/>
              </a:srgbClr>
            </a:solidFill>
            <a:ln cap="flat" cmpd="sng" w="12700">
              <a:solidFill>
                <a:srgbClr val="6D28D9">
                  <a:alpha val="1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594360" y="4206240"/>
              <a:ext cx="79552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Round 2: Write your own IF → THEN rules and swap with another team!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548644" y="274325"/>
            <a:ext cx="305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TRUE or FALSE?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02920" y="1188720"/>
            <a:ext cx="3749040" cy="3291840"/>
          </a:xfrm>
          <a:prstGeom prst="roundRect">
            <a:avLst>
              <a:gd fmla="val 4167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5544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502920" y="283464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9"/>
          <p:cNvGrpSpPr/>
          <p:nvPr/>
        </p:nvGrpSpPr>
        <p:grpSpPr>
          <a:xfrm>
            <a:off x="502920" y="3520440"/>
            <a:ext cx="3749040" cy="731520"/>
            <a:chOff x="502920" y="3520440"/>
            <a:chExt cx="3749040" cy="731520"/>
          </a:xfrm>
        </p:grpSpPr>
        <p:sp>
          <p:nvSpPr>
            <p:cNvPr id="211" name="Google Shape;211;p9"/>
            <p:cNvSpPr/>
            <p:nvPr/>
          </p:nvSpPr>
          <p:spPr>
            <a:xfrm>
              <a:off x="502920" y="352044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 is met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502920" y="388620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→ Action runs!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9"/>
          <p:cNvSpPr/>
          <p:nvPr/>
        </p:nvSpPr>
        <p:spPr>
          <a:xfrm>
            <a:off x="4892040" y="1188720"/>
            <a:ext cx="3749040" cy="3291840"/>
          </a:xfrm>
          <a:prstGeom prst="roundRect">
            <a:avLst>
              <a:gd fmla="val 4167" name="adj"/>
            </a:avLst>
          </a:prstGeom>
          <a:solidFill>
            <a:srgbClr val="FAF7F2">
              <a:alpha val="7840"/>
            </a:srgbClr>
          </a:solidFill>
          <a:ln cap="flat" cmpd="sng" w="12700">
            <a:solidFill>
              <a:srgbClr val="9800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9"/>
          <p:cNvGrpSpPr/>
          <p:nvPr/>
        </p:nvGrpSpPr>
        <p:grpSpPr>
          <a:xfrm>
            <a:off x="4892040" y="1554480"/>
            <a:ext cx="3749040" cy="1920240"/>
            <a:chOff x="4892040" y="1554480"/>
            <a:chExt cx="3749040" cy="1920240"/>
          </a:xfrm>
        </p:grpSpPr>
        <p:pic>
          <p:nvPicPr>
            <p:cNvPr descr="preencoded.png" id="215" name="Google Shape;215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89320" y="1554480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9"/>
            <p:cNvSpPr/>
            <p:nvPr/>
          </p:nvSpPr>
          <p:spPr>
            <a:xfrm>
              <a:off x="4892040" y="2834640"/>
              <a:ext cx="37490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B7DB8"/>
                </a:buClr>
                <a:buSzPts val="4000"/>
                <a:buFont typeface="Calibri"/>
                <a:buNone/>
              </a:pPr>
              <a:r>
                <a:rPr b="1" i="0" lang="en-US" sz="4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FALSE</a:t>
              </a:r>
              <a:endParaRPr b="0" i="0" sz="4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9"/>
          <p:cNvGrpSpPr/>
          <p:nvPr/>
        </p:nvGrpSpPr>
        <p:grpSpPr>
          <a:xfrm>
            <a:off x="4892040" y="3520440"/>
            <a:ext cx="3749040" cy="731520"/>
            <a:chOff x="4892040" y="3520440"/>
            <a:chExt cx="3749040" cy="731520"/>
          </a:xfrm>
        </p:grpSpPr>
        <p:sp>
          <p:nvSpPr>
            <p:cNvPr id="218" name="Google Shape;218;p9"/>
            <p:cNvSpPr/>
            <p:nvPr/>
          </p:nvSpPr>
          <p:spPr>
            <a:xfrm>
              <a:off x="4892040" y="352044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B7DB8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 NOT met</a:t>
              </a:r>
              <a:endParaRPr b="0" i="0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4892040" y="3886200"/>
              <a:ext cx="37490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B7DB8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→ Computer skips it</a:t>
              </a:r>
              <a:endParaRPr b="0" i="0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What Is an Event?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10"/>
          <p:cNvGrpSpPr/>
          <p:nvPr/>
        </p:nvGrpSpPr>
        <p:grpSpPr>
          <a:xfrm>
            <a:off x="548640" y="1463040"/>
            <a:ext cx="2834640" cy="2194560"/>
            <a:chOff x="548640" y="1463040"/>
            <a:chExt cx="2834640" cy="2194560"/>
          </a:xfrm>
        </p:grpSpPr>
        <p:sp>
          <p:nvSpPr>
            <p:cNvPr id="227" name="Google Shape;227;p10"/>
            <p:cNvSpPr/>
            <p:nvPr/>
          </p:nvSpPr>
          <p:spPr>
            <a:xfrm>
              <a:off x="548640" y="1463040"/>
              <a:ext cx="2286000" cy="2194560"/>
            </a:xfrm>
            <a:prstGeom prst="roundRect">
              <a:avLst>
                <a:gd fmla="val 5833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1325880" y="1737360"/>
              <a:ext cx="731520" cy="731520"/>
            </a:xfrm>
            <a:prstGeom prst="ellipse">
              <a:avLst/>
            </a:prstGeom>
            <a:solidFill>
              <a:srgbClr val="FAF7F2"/>
            </a:solidFill>
            <a:ln cap="flat" cmpd="sng" w="1270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29" name="Google Shape;22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90472" y="1901952"/>
              <a:ext cx="402336" cy="40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10"/>
            <p:cNvSpPr/>
            <p:nvPr/>
          </p:nvSpPr>
          <p:spPr>
            <a:xfrm>
              <a:off x="548640" y="2606040"/>
              <a:ext cx="228600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EVENT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85800" y="3108960"/>
              <a:ext cx="20116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Something happens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2880360" y="2377440"/>
              <a:ext cx="502920" cy="3474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" name="Google Shape;233;p10"/>
          <p:cNvGrpSpPr/>
          <p:nvPr/>
        </p:nvGrpSpPr>
        <p:grpSpPr>
          <a:xfrm>
            <a:off x="3429000" y="1463040"/>
            <a:ext cx="2834640" cy="2194560"/>
            <a:chOff x="3429000" y="1463040"/>
            <a:chExt cx="2834640" cy="2194560"/>
          </a:xfrm>
        </p:grpSpPr>
        <p:sp>
          <p:nvSpPr>
            <p:cNvPr id="234" name="Google Shape;234;p10"/>
            <p:cNvSpPr/>
            <p:nvPr/>
          </p:nvSpPr>
          <p:spPr>
            <a:xfrm>
              <a:off x="3429000" y="1463040"/>
              <a:ext cx="2286000" cy="2194560"/>
            </a:xfrm>
            <a:prstGeom prst="roundRect">
              <a:avLst>
                <a:gd fmla="val 5833" name="adj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4206240" y="1737360"/>
              <a:ext cx="731520" cy="731520"/>
            </a:xfrm>
            <a:prstGeom prst="ellipse">
              <a:avLst/>
            </a:prstGeom>
            <a:solidFill>
              <a:srgbClr val="FAF7F2"/>
            </a:solidFill>
            <a:ln cap="flat" cmpd="sng" w="1270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36" name="Google Shape;23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70832" y="1901952"/>
              <a:ext cx="402336" cy="40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0"/>
            <p:cNvSpPr/>
            <p:nvPr/>
          </p:nvSpPr>
          <p:spPr>
            <a:xfrm>
              <a:off x="3429000" y="2606040"/>
              <a:ext cx="228600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CONDITION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3566160" y="3108960"/>
              <a:ext cx="20116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Is it true or false?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5760720" y="2377440"/>
              <a:ext cx="502920" cy="3474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10"/>
          <p:cNvGrpSpPr/>
          <p:nvPr/>
        </p:nvGrpSpPr>
        <p:grpSpPr>
          <a:xfrm>
            <a:off x="6309360" y="1463040"/>
            <a:ext cx="2286000" cy="2194500"/>
            <a:chOff x="6309360" y="1463040"/>
            <a:chExt cx="2286000" cy="2194500"/>
          </a:xfrm>
        </p:grpSpPr>
        <p:sp>
          <p:nvSpPr>
            <p:cNvPr id="241" name="Google Shape;241;p10"/>
            <p:cNvSpPr/>
            <p:nvPr/>
          </p:nvSpPr>
          <p:spPr>
            <a:xfrm>
              <a:off x="6309360" y="1463040"/>
              <a:ext cx="2286000" cy="2194500"/>
            </a:xfrm>
            <a:prstGeom prst="roundRect">
              <a:avLst>
                <a:gd fmla="val 5833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7086600" y="1737360"/>
              <a:ext cx="731520" cy="731520"/>
            </a:xfrm>
            <a:prstGeom prst="ellipse">
              <a:avLst/>
            </a:prstGeom>
            <a:solidFill>
              <a:srgbClr val="FAF7F2"/>
            </a:solidFill>
            <a:ln cap="flat" cmpd="sng" w="12700">
              <a:solidFill>
                <a:srgbClr val="FAF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43" name="Google Shape;243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51192" y="1901952"/>
              <a:ext cx="402336" cy="40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0"/>
            <p:cNvSpPr/>
            <p:nvPr/>
          </p:nvSpPr>
          <p:spPr>
            <a:xfrm>
              <a:off x="6309360" y="2606040"/>
              <a:ext cx="228600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6446520" y="3108960"/>
              <a:ext cx="20116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Run the code!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0"/>
          <p:cNvSpPr/>
          <p:nvPr/>
        </p:nvSpPr>
        <p:spPr>
          <a:xfrm>
            <a:off x="502920" y="3840480"/>
            <a:ext cx="8138100" cy="1005900"/>
          </a:xfrm>
          <a:prstGeom prst="roundRect">
            <a:avLst>
              <a:gd fmla="val 10909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94360" y="4005072"/>
            <a:ext cx="1463040" cy="658368"/>
          </a:xfrm>
          <a:prstGeom prst="roundRect">
            <a:avLst>
              <a:gd fmla="val 11111" name="adj"/>
            </a:avLst>
          </a:prstGeom>
          <a:solidFill>
            <a:srgbClr val="6D28D9"/>
          </a:solidFill>
          <a:ln cap="flat" cmpd="sng" w="12700">
            <a:solidFill>
              <a:srgbClr val="FAF7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Alarm goes off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084832" y="4224528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AF7F2">
              <a:alpha val="50196"/>
            </a:srgbClr>
          </a:solidFill>
          <a:ln cap="flat" cmpd="sng" w="12700">
            <a:solidFill>
              <a:srgbClr val="FAF7F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2194560" y="4005072"/>
            <a:ext cx="1600200" cy="658368"/>
            <a:chOff x="2194560" y="4005072"/>
            <a:chExt cx="1600200" cy="658368"/>
          </a:xfrm>
        </p:grpSpPr>
        <p:sp>
          <p:nvSpPr>
            <p:cNvPr id="250" name="Google Shape;250;p10"/>
            <p:cNvSpPr/>
            <p:nvPr/>
          </p:nvSpPr>
          <p:spPr>
            <a:xfrm>
              <a:off x="2194560" y="4005072"/>
              <a:ext cx="1463040" cy="658368"/>
            </a:xfrm>
            <a:prstGeom prst="roundRect">
              <a:avLst>
                <a:gd fmla="val 11111" name="adj"/>
              </a:avLst>
            </a:prstGeom>
            <a:solidFill>
              <a:srgbClr val="FAF7F2">
                <a:alpha val="14901"/>
              </a:srgbClr>
            </a:solidFill>
            <a:ln cap="flat" cmpd="sng" w="12700">
              <a:solidFill>
                <a:srgbClr val="FAF7F2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If you are tired</a:t>
              </a:r>
              <a:endParaRPr b="1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3685032" y="4224528"/>
              <a:ext cx="109728" cy="21945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AF7F2">
                <a:alpha val="50196"/>
              </a:srgbClr>
            </a:solidFill>
            <a:ln cap="flat" cmpd="sng" w="12700">
              <a:solidFill>
                <a:srgbClr val="FAF7F2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10"/>
          <p:cNvGrpSpPr/>
          <p:nvPr/>
        </p:nvGrpSpPr>
        <p:grpSpPr>
          <a:xfrm>
            <a:off x="3794760" y="4005072"/>
            <a:ext cx="1600200" cy="658500"/>
            <a:chOff x="3794760" y="4005072"/>
            <a:chExt cx="1600200" cy="658500"/>
          </a:xfrm>
        </p:grpSpPr>
        <p:sp>
          <p:nvSpPr>
            <p:cNvPr id="253" name="Google Shape;253;p10"/>
            <p:cNvSpPr/>
            <p:nvPr/>
          </p:nvSpPr>
          <p:spPr>
            <a:xfrm>
              <a:off x="3794760" y="4005072"/>
              <a:ext cx="1463100" cy="658500"/>
            </a:xfrm>
            <a:prstGeom prst="roundRect">
              <a:avLst>
                <a:gd fmla="val 11111" name="adj"/>
              </a:avLst>
            </a:prstGeom>
            <a:solidFill>
              <a:srgbClr val="6D28D9"/>
            </a:solidFill>
            <a:ln cap="flat" cmpd="sng" w="12700">
              <a:solidFill>
                <a:srgbClr val="FAF7F2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Snooze It</a:t>
              </a:r>
              <a:endParaRPr b="1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5285232" y="4224528"/>
              <a:ext cx="109728" cy="21945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AF7F2">
                <a:alpha val="50196"/>
              </a:srgbClr>
            </a:solidFill>
            <a:ln cap="flat" cmpd="sng" w="12700">
              <a:solidFill>
                <a:srgbClr val="FAF7F2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10"/>
          <p:cNvGrpSpPr/>
          <p:nvPr/>
        </p:nvGrpSpPr>
        <p:grpSpPr>
          <a:xfrm>
            <a:off x="5394960" y="4005072"/>
            <a:ext cx="1600272" cy="658368"/>
            <a:chOff x="5394960" y="4005072"/>
            <a:chExt cx="1600272" cy="658368"/>
          </a:xfrm>
        </p:grpSpPr>
        <p:sp>
          <p:nvSpPr>
            <p:cNvPr id="256" name="Google Shape;256;p10"/>
            <p:cNvSpPr/>
            <p:nvPr/>
          </p:nvSpPr>
          <p:spPr>
            <a:xfrm>
              <a:off x="5394960" y="4005072"/>
              <a:ext cx="1463040" cy="658368"/>
            </a:xfrm>
            <a:prstGeom prst="roundRect">
              <a:avLst>
                <a:gd fmla="val 11111" name="adj"/>
              </a:avLst>
            </a:prstGeom>
            <a:solidFill>
              <a:srgbClr val="FAF7F2">
                <a:alpha val="14901"/>
              </a:srgbClr>
            </a:solidFill>
            <a:ln cap="flat" cmpd="sng" w="12700">
              <a:solidFill>
                <a:srgbClr val="FAF7F2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If you are late</a:t>
              </a:r>
              <a:endParaRPr b="1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6885432" y="4224528"/>
              <a:ext cx="109800" cy="219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AF7F2">
                <a:alpha val="50196"/>
              </a:srgbClr>
            </a:solidFill>
            <a:ln cap="flat" cmpd="sng" w="12700">
              <a:solidFill>
                <a:srgbClr val="FAF7F2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10"/>
          <p:cNvSpPr/>
          <p:nvPr/>
        </p:nvSpPr>
        <p:spPr>
          <a:xfrm>
            <a:off x="6995160" y="4005072"/>
            <a:ext cx="1463100" cy="658500"/>
          </a:xfrm>
          <a:prstGeom prst="roundRect">
            <a:avLst>
              <a:gd fmla="val 11111" name="adj"/>
            </a:avLst>
          </a:prstGeom>
          <a:solidFill>
            <a:srgbClr val="6D28D9"/>
          </a:solidFill>
          <a:ln cap="flat" cmpd="sng" w="12700">
            <a:solidFill>
              <a:srgbClr val="FAF7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Jump up!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Blockly: If-Then Builder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8640" y="1234440"/>
            <a:ext cx="4114800" cy="3566160"/>
          </a:xfrm>
          <a:prstGeom prst="roundRect">
            <a:avLst>
              <a:gd fmla="val 3077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731520" y="14173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TRAFFIC LIGHT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148840" y="1920240"/>
            <a:ext cx="914400" cy="914400"/>
          </a:xfrm>
          <a:prstGeom prst="ellipse">
            <a:avLst/>
          </a:prstGeom>
          <a:solidFill>
            <a:srgbClr val="980000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2148840" y="2834640"/>
            <a:ext cx="914400" cy="914400"/>
          </a:xfrm>
          <a:prstGeom prst="ellipse">
            <a:avLst/>
          </a:prstGeom>
          <a:solidFill>
            <a:srgbClr val="FCD34D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2148840" y="3749040"/>
            <a:ext cx="914400" cy="914400"/>
          </a:xfrm>
          <a:prstGeom prst="ellipse">
            <a:avLst/>
          </a:prstGeom>
          <a:solidFill>
            <a:srgbClr val="22C55E"/>
          </a:solidFill>
          <a:ln cap="flat" cmpd="sng" w="1905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851728" y="4251950"/>
            <a:ext cx="1134900" cy="384000"/>
          </a:xfrm>
          <a:prstGeom prst="roundRect">
            <a:avLst>
              <a:gd fmla="val 19048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851725" y="4251950"/>
            <a:ext cx="1205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IF red → STOP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11"/>
          <p:cNvGrpSpPr/>
          <p:nvPr/>
        </p:nvGrpSpPr>
        <p:grpSpPr>
          <a:xfrm>
            <a:off x="4983480" y="839183"/>
            <a:ext cx="3657600" cy="685800"/>
            <a:chOff x="4983480" y="1325880"/>
            <a:chExt cx="3657600" cy="685800"/>
          </a:xfrm>
        </p:grpSpPr>
        <p:sp>
          <p:nvSpPr>
            <p:cNvPr id="273" name="Google Shape;273;p11"/>
            <p:cNvSpPr/>
            <p:nvPr/>
          </p:nvSpPr>
          <p:spPr>
            <a:xfrm>
              <a:off x="4983480" y="132588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5120640" y="137160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1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217920" y="137160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Code one rule — IF red → STOP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1"/>
          <p:cNvGrpSpPr/>
          <p:nvPr/>
        </p:nvGrpSpPr>
        <p:grpSpPr>
          <a:xfrm>
            <a:off x="4983480" y="1707863"/>
            <a:ext cx="3657600" cy="685800"/>
            <a:chOff x="4983480" y="2194560"/>
            <a:chExt cx="3657600" cy="685800"/>
          </a:xfrm>
        </p:grpSpPr>
        <p:sp>
          <p:nvSpPr>
            <p:cNvPr id="277" name="Google Shape;277;p11"/>
            <p:cNvSpPr/>
            <p:nvPr/>
          </p:nvSpPr>
          <p:spPr>
            <a:xfrm>
              <a:off x="4983480" y="219456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5120640" y="224028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2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6217920" y="224028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Code two rules — red &amp; green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1"/>
          <p:cNvGrpSpPr/>
          <p:nvPr/>
        </p:nvGrpSpPr>
        <p:grpSpPr>
          <a:xfrm>
            <a:off x="4983480" y="2576543"/>
            <a:ext cx="3657600" cy="685800"/>
            <a:chOff x="4983480" y="3063240"/>
            <a:chExt cx="3657600" cy="685800"/>
          </a:xfrm>
        </p:grpSpPr>
        <p:sp>
          <p:nvSpPr>
            <p:cNvPr id="281" name="Google Shape;281;p11"/>
            <p:cNvSpPr/>
            <p:nvPr/>
          </p:nvSpPr>
          <p:spPr>
            <a:xfrm>
              <a:off x="4983480" y="306324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120640" y="310896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3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6217920" y="310896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Code all 3 lights — full logic!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1"/>
          <p:cNvGrpSpPr/>
          <p:nvPr/>
        </p:nvGrpSpPr>
        <p:grpSpPr>
          <a:xfrm>
            <a:off x="4983480" y="3445223"/>
            <a:ext cx="3657600" cy="685800"/>
            <a:chOff x="4983480" y="3931920"/>
            <a:chExt cx="3657600" cy="685800"/>
          </a:xfrm>
        </p:grpSpPr>
        <p:sp>
          <p:nvSpPr>
            <p:cNvPr id="285" name="Google Shape;285;p11"/>
            <p:cNvSpPr/>
            <p:nvPr/>
          </p:nvSpPr>
          <p:spPr>
            <a:xfrm>
              <a:off x="4983480" y="3931920"/>
              <a:ext cx="3657600" cy="685800"/>
            </a:xfrm>
            <a:prstGeom prst="roundRect">
              <a:avLst>
                <a:gd fmla="val 13333" name="adj"/>
              </a:avLst>
            </a:prstGeom>
            <a:solidFill>
              <a:srgbClr val="6D28D9">
                <a:alpha val="10196"/>
              </a:srgbClr>
            </a:solidFill>
            <a:ln cap="flat" cmpd="sng" w="12700">
              <a:solidFill>
                <a:srgbClr val="6D28D9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5120640" y="3977640"/>
              <a:ext cx="10058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Level 4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6217920" y="3977640"/>
              <a:ext cx="228600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5 lights — invent your own rules!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1"/>
          <p:cNvGrpSpPr/>
          <p:nvPr/>
        </p:nvGrpSpPr>
        <p:grpSpPr>
          <a:xfrm>
            <a:off x="4983480" y="4341335"/>
            <a:ext cx="3657600" cy="548640"/>
            <a:chOff x="4983480" y="4828032"/>
            <a:chExt cx="3657600" cy="548640"/>
          </a:xfrm>
        </p:grpSpPr>
        <p:sp>
          <p:nvSpPr>
            <p:cNvPr id="289" name="Google Shape;289;p11"/>
            <p:cNvSpPr/>
            <p:nvPr/>
          </p:nvSpPr>
          <p:spPr>
            <a:xfrm>
              <a:off x="4983480" y="4828032"/>
              <a:ext cx="3657600" cy="548640"/>
            </a:xfrm>
            <a:prstGeom prst="roundRect">
              <a:avLst>
                <a:gd fmla="val 16667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5074920" y="4828032"/>
              <a:ext cx="3474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No rule? Computer does nothing!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Great Work, Decision Makers!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12"/>
          <p:cNvGrpSpPr/>
          <p:nvPr/>
        </p:nvGrpSpPr>
        <p:grpSpPr>
          <a:xfrm>
            <a:off x="3749040" y="914400"/>
            <a:ext cx="1645920" cy="1645920"/>
            <a:chOff x="3749040" y="914400"/>
            <a:chExt cx="1645920" cy="1645920"/>
          </a:xfrm>
        </p:grpSpPr>
        <p:sp>
          <p:nvSpPr>
            <p:cNvPr id="298" name="Google Shape;298;p12"/>
            <p:cNvSpPr/>
            <p:nvPr/>
          </p:nvSpPr>
          <p:spPr>
            <a:xfrm>
              <a:off x="3749040" y="914400"/>
              <a:ext cx="1645920" cy="1645920"/>
            </a:xfrm>
            <a:prstGeom prst="ellipse">
              <a:avLst/>
            </a:prstGeom>
            <a:solidFill>
              <a:srgbClr val="6D28D9"/>
            </a:solidFill>
            <a:ln cap="flat" cmpd="sng" w="127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99" name="Google Shape;29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19372" y="1284732"/>
              <a:ext cx="905256" cy="9052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2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DECISION MAKER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12"/>
          <p:cNvGrpSpPr/>
          <p:nvPr/>
        </p:nvGrpSpPr>
        <p:grpSpPr>
          <a:xfrm>
            <a:off x="320040" y="3547872"/>
            <a:ext cx="2651760" cy="1051560"/>
            <a:chOff x="320040" y="3547872"/>
            <a:chExt cx="2651760" cy="1051560"/>
          </a:xfrm>
        </p:grpSpPr>
        <p:sp>
          <p:nvSpPr>
            <p:cNvPr id="302" name="Google Shape;302;p12"/>
            <p:cNvSpPr/>
            <p:nvPr/>
          </p:nvSpPr>
          <p:spPr>
            <a:xfrm>
              <a:off x="320040" y="3547872"/>
              <a:ext cx="2651760" cy="1051560"/>
            </a:xfrm>
            <a:prstGeom prst="roundRect">
              <a:avLst>
                <a:gd fmla="val 10435" name="adj"/>
              </a:avLst>
            </a:prstGeom>
            <a:solidFill>
              <a:srgbClr val="6D28D9">
                <a:alpha val="18039"/>
              </a:srgbClr>
            </a:solidFill>
            <a:ln cap="flat" cmpd="sng" w="12700">
              <a:solidFill>
                <a:srgbClr val="6D28D9">
                  <a:alpha val="1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457200" y="3547872"/>
              <a:ext cx="237744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A conditional is…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12"/>
          <p:cNvGrpSpPr/>
          <p:nvPr/>
        </p:nvGrpSpPr>
        <p:grpSpPr>
          <a:xfrm>
            <a:off x="3246120" y="3547872"/>
            <a:ext cx="2651760" cy="1051560"/>
            <a:chOff x="3246120" y="3547872"/>
            <a:chExt cx="2651760" cy="1051560"/>
          </a:xfrm>
        </p:grpSpPr>
        <p:sp>
          <p:nvSpPr>
            <p:cNvPr id="305" name="Google Shape;305;p12"/>
            <p:cNvSpPr/>
            <p:nvPr/>
          </p:nvSpPr>
          <p:spPr>
            <a:xfrm>
              <a:off x="3246120" y="3547872"/>
              <a:ext cx="2651760" cy="1051560"/>
            </a:xfrm>
            <a:prstGeom prst="roundRect">
              <a:avLst>
                <a:gd fmla="val 10435" name="adj"/>
              </a:avLst>
            </a:prstGeom>
            <a:solidFill>
              <a:srgbClr val="6D28D9">
                <a:alpha val="18039"/>
              </a:srgbClr>
            </a:solidFill>
            <a:ln cap="flat" cmpd="sng" w="12700">
              <a:solidFill>
                <a:srgbClr val="6D28D9">
                  <a:alpha val="1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3383280" y="3547872"/>
              <a:ext cx="237744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 _______, THEN _______.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2"/>
          <p:cNvGrpSpPr/>
          <p:nvPr/>
        </p:nvGrpSpPr>
        <p:grpSpPr>
          <a:xfrm>
            <a:off x="6172200" y="3547872"/>
            <a:ext cx="2651760" cy="1051560"/>
            <a:chOff x="6172200" y="3547872"/>
            <a:chExt cx="2651760" cy="1051560"/>
          </a:xfrm>
        </p:grpSpPr>
        <p:sp>
          <p:nvSpPr>
            <p:cNvPr id="308" name="Google Shape;308;p12"/>
            <p:cNvSpPr/>
            <p:nvPr/>
          </p:nvSpPr>
          <p:spPr>
            <a:xfrm>
              <a:off x="6172200" y="3547872"/>
              <a:ext cx="2651760" cy="1051560"/>
            </a:xfrm>
            <a:prstGeom prst="roundRect">
              <a:avLst>
                <a:gd fmla="val 10435" name="adj"/>
              </a:avLst>
            </a:prstGeom>
            <a:solidFill>
              <a:srgbClr val="6D28D9">
                <a:alpha val="18039"/>
              </a:srgbClr>
            </a:solidFill>
            <a:ln cap="flat" cmpd="sng" w="12700">
              <a:solidFill>
                <a:srgbClr val="6D28D9">
                  <a:alpha val="1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2"/>
            <p:cNvSpPr/>
            <p:nvPr/>
          </p:nvSpPr>
          <p:spPr>
            <a:xfrm>
              <a:off x="6309360" y="3547872"/>
              <a:ext cx="2377440" cy="1051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A loop vs a conditional: the difference is…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